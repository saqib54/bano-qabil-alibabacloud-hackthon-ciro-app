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c9cbd8edce4db3" /><Relationship Type="http://schemas.openxmlformats.org/officeDocument/2006/relationships/extended-properties" Target="/docProps/app.xml" Id="R97efc86cb9b742da" /><Relationship Type="http://schemas.openxmlformats.org/officeDocument/2006/relationships/officeDocument" Target="/ppt/presentation.xml" Id="R9d188a58a2a241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7f1553738c4352"/>
  </p:sldMasterIdLst>
  <p:notesMasterIdLst>
    <p:notesMasterId xmlns:r="http://schemas.openxmlformats.org/officeDocument/2006/relationships" r:id="R0c885f05bb69497d"/>
  </p:notesMasterIdLst>
  <p:sldIdLst>
    <p:sldId xmlns:r="http://schemas.openxmlformats.org/officeDocument/2006/relationships" id="256" r:id="R2e43683b61d44bda"/>
    <p:sldId xmlns:r="http://schemas.openxmlformats.org/officeDocument/2006/relationships" id="257" r:id="Rfc9b990930e8441d"/>
    <p:sldId xmlns:r="http://schemas.openxmlformats.org/officeDocument/2006/relationships" id="258" r:id="Rc295213664174469"/>
    <p:sldId xmlns:r="http://schemas.openxmlformats.org/officeDocument/2006/relationships" id="259" r:id="R70a17eaa708e494e"/>
    <p:sldId xmlns:r="http://schemas.openxmlformats.org/officeDocument/2006/relationships" id="260" r:id="R437cc1ace4fd4fc2"/>
    <p:sldId xmlns:r="http://schemas.openxmlformats.org/officeDocument/2006/relationships" id="261" r:id="R154a7cb3850b47c4"/>
    <p:sldId xmlns:r="http://schemas.openxmlformats.org/officeDocument/2006/relationships" id="262" r:id="Rd612ae7ce09f4c8b"/>
    <p:sldId xmlns:r="http://schemas.openxmlformats.org/officeDocument/2006/relationships" id="263" r:id="R168570f7b92e4e10"/>
    <p:sldId xmlns:r="http://schemas.openxmlformats.org/officeDocument/2006/relationships" id="264" r:id="Racacda0f695c493d"/>
    <p:sldId xmlns:r="http://schemas.openxmlformats.org/officeDocument/2006/relationships" id="265" r:id="Rbcf828ca70f54ca2"/>
    <p:sldId xmlns:r="http://schemas.openxmlformats.org/officeDocument/2006/relationships" id="266" r:id="Rafa8d0e531564420"/>
    <p:sldId xmlns:r="http://schemas.openxmlformats.org/officeDocument/2006/relationships" id="267" r:id="R7c0d1aed7a2845ec"/>
    <p:sldId xmlns:r="http://schemas.openxmlformats.org/officeDocument/2006/relationships" id="268" r:id="R557c52c1dd4d4da7"/>
    <p:sldId xmlns:r="http://schemas.openxmlformats.org/officeDocument/2006/relationships" id="269" r:id="R5987619d14674cf6"/>
    <p:sldId xmlns:r="http://schemas.openxmlformats.org/officeDocument/2006/relationships" id="270" r:id="R1cdfa282d1344a9d"/>
    <p:sldId xmlns:r="http://schemas.openxmlformats.org/officeDocument/2006/relationships" id="271" r:id="Rc455689d17ce4789"/>
    <p:sldId xmlns:r="http://schemas.openxmlformats.org/officeDocument/2006/relationships" id="272" r:id="Re451cca19beb4f7c"/>
    <p:sldId xmlns:r="http://schemas.openxmlformats.org/officeDocument/2006/relationships" id="273" r:id="R4ec9b5bac8a941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ee8ae037b64596" /><Relationship Type="http://schemas.openxmlformats.org/officeDocument/2006/relationships/slideMaster" Target="/ppt/slideMasters/slideMaster1.xml" Id="R567f1553738c4352" /><Relationship Type="http://schemas.openxmlformats.org/officeDocument/2006/relationships/notesMaster" Target="/ppt/notesMasters/notesMaster1.xml" Id="R0c885f05bb69497d" /><Relationship Type="http://schemas.openxmlformats.org/officeDocument/2006/relationships/presProps" Target="/ppt/presProps.xml" Id="R7279c81071af405a" /><Relationship Type="http://schemas.openxmlformats.org/officeDocument/2006/relationships/tableStyles" Target="/ppt/tableStyles.xml" Id="R16e3d7f12b00458f" /><Relationship Type="http://schemas.openxmlformats.org/officeDocument/2006/relationships/slide" Target="/ppt/slides/slide1.xml" Id="R2e43683b61d44bda" /><Relationship Type="http://schemas.openxmlformats.org/officeDocument/2006/relationships/slide" Target="/ppt/slides/slide2.xml" Id="Rfc9b990930e8441d" /><Relationship Type="http://schemas.openxmlformats.org/officeDocument/2006/relationships/slide" Target="/ppt/slides/slide3.xml" Id="Rc295213664174469" /><Relationship Type="http://schemas.openxmlformats.org/officeDocument/2006/relationships/slide" Target="/ppt/slides/slide4.xml" Id="R70a17eaa708e494e" /><Relationship Type="http://schemas.openxmlformats.org/officeDocument/2006/relationships/slide" Target="/ppt/slides/slide5.xml" Id="R437cc1ace4fd4fc2" /><Relationship Type="http://schemas.openxmlformats.org/officeDocument/2006/relationships/slide" Target="/ppt/slides/slide6.xml" Id="R154a7cb3850b47c4" /><Relationship Type="http://schemas.openxmlformats.org/officeDocument/2006/relationships/slide" Target="/ppt/slides/slide7.xml" Id="Rd612ae7ce09f4c8b" /><Relationship Type="http://schemas.openxmlformats.org/officeDocument/2006/relationships/slide" Target="/ppt/slides/slide8.xml" Id="R168570f7b92e4e10" /><Relationship Type="http://schemas.openxmlformats.org/officeDocument/2006/relationships/slide" Target="/ppt/slides/slide9.xml" Id="Racacda0f695c493d" /><Relationship Type="http://schemas.openxmlformats.org/officeDocument/2006/relationships/slide" Target="/ppt/slides/slide10.xml" Id="Rbcf828ca70f54ca2" /><Relationship Type="http://schemas.openxmlformats.org/officeDocument/2006/relationships/slide" Target="/ppt/slides/slide11.xml" Id="Rafa8d0e531564420" /><Relationship Type="http://schemas.openxmlformats.org/officeDocument/2006/relationships/slide" Target="/ppt/slides/slide12.xml" Id="R7c0d1aed7a2845ec" /><Relationship Type="http://schemas.openxmlformats.org/officeDocument/2006/relationships/slide" Target="/ppt/slides/slide13.xml" Id="R557c52c1dd4d4da7" /><Relationship Type="http://schemas.openxmlformats.org/officeDocument/2006/relationships/slide" Target="/ppt/slides/slide14.xml" Id="R5987619d14674cf6" /><Relationship Type="http://schemas.openxmlformats.org/officeDocument/2006/relationships/slide" Target="/ppt/slides/slide15.xml" Id="R1cdfa282d1344a9d" /><Relationship Type="http://schemas.openxmlformats.org/officeDocument/2006/relationships/slide" Target="/ppt/slides/slide16.xml" Id="Rc455689d17ce4789" /><Relationship Type="http://schemas.openxmlformats.org/officeDocument/2006/relationships/slide" Target="/ppt/slides/slide17.xml" Id="Re451cca19beb4f7c" /><Relationship Type="http://schemas.openxmlformats.org/officeDocument/2006/relationships/slide" Target="/ppt/slides/slide18.xml" Id="R4ec9b5bac8a941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eb84f5ee2f4a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0a32f544564a85" /><Relationship Type="http://schemas.openxmlformats.org/officeDocument/2006/relationships/notesMaster" Target="/ppt/notesMasters/notesMaster1.xml" Id="R8c56382dc4e64a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2cb0add8594b5e" /><Relationship Type="http://schemas.openxmlformats.org/officeDocument/2006/relationships/notesMaster" Target="/ppt/notesMasters/notesMaster1.xml" Id="Rad8ebc29730048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07f006dc324fa7" /><Relationship Type="http://schemas.openxmlformats.org/officeDocument/2006/relationships/notesMaster" Target="/ppt/notesMasters/notesMaster1.xml" Id="R2ed2b9d835c54e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d4ae95653246c4" /><Relationship Type="http://schemas.openxmlformats.org/officeDocument/2006/relationships/notesMaster" Target="/ppt/notesMasters/notesMaster1.xml" Id="R45e4620a6ea145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b6f431003241dc" /><Relationship Type="http://schemas.openxmlformats.org/officeDocument/2006/relationships/notesMaster" Target="/ppt/notesMasters/notesMaster1.xml" Id="Rcd056116ee8048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453599dea8421c" /><Relationship Type="http://schemas.openxmlformats.org/officeDocument/2006/relationships/notesMaster" Target="/ppt/notesMasters/notesMaster1.xml" Id="R2bb3d93b7f2f40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99e71260ac450e" /><Relationship Type="http://schemas.openxmlformats.org/officeDocument/2006/relationships/notesMaster" Target="/ppt/notesMasters/notesMaster1.xml" Id="R28810ea3fe924c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94fc1f8e1745d4" /><Relationship Type="http://schemas.openxmlformats.org/officeDocument/2006/relationships/notesMaster" Target="/ppt/notesMasters/notesMaster1.xml" Id="Rc5da84ef199243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a7de2300154fc6" /><Relationship Type="http://schemas.openxmlformats.org/officeDocument/2006/relationships/notesMaster" Target="/ppt/notesMasters/notesMaster1.xml" Id="Rf5402b56805745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cbb3fd0ba343ff" /><Relationship Type="http://schemas.openxmlformats.org/officeDocument/2006/relationships/notesMaster" Target="/ppt/notesMasters/notesMaster1.xml" Id="Rc6b1594453c94f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305bbd39bb4288" /><Relationship Type="http://schemas.openxmlformats.org/officeDocument/2006/relationships/notesMaster" Target="/ppt/notesMasters/notesMaster1.xml" Id="R4e47eb17bfb24d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fd3ba8e8694123" /><Relationship Type="http://schemas.openxmlformats.org/officeDocument/2006/relationships/notesMaster" Target="/ppt/notesMasters/notesMaster1.xml" Id="R2929f9bd0c0a47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63792f371a4b57" /><Relationship Type="http://schemas.openxmlformats.org/officeDocument/2006/relationships/notesMaster" Target="/ppt/notesMasters/notesMaster1.xml" Id="Rf0f89fab05d84f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43cbe1f6bcc4b1a" /><Relationship Type="http://schemas.openxmlformats.org/officeDocument/2006/relationships/notesMaster" Target="/ppt/notesMasters/notesMaster1.xml" Id="R958d8e7a880145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7f49d6d40c4c5c" /><Relationship Type="http://schemas.openxmlformats.org/officeDocument/2006/relationships/notesMaster" Target="/ppt/notesMasters/notesMaster1.xml" Id="R2f1b3edcc9314f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4bbbf9c9874d1b" /><Relationship Type="http://schemas.openxmlformats.org/officeDocument/2006/relationships/notesMaster" Target="/ppt/notesMasters/notesMaster1.xml" Id="R5da6ecfa734141a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23e0f27ada4fa3" /><Relationship Type="http://schemas.openxmlformats.org/officeDocument/2006/relationships/notesMaster" Target="/ppt/notesMasters/notesMaster1.xml" Id="R9890e27c9e4144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b418a4a8cce4802" /><Relationship Type="http://schemas.openxmlformats.org/officeDocument/2006/relationships/notesMaster" Target="/ppt/notesMasters/notesMaster1.xml" Id="R4d31aa2de78543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human outcome: CIRO is a Pakistan-first, Alibaba Cloud-powered concept designed to turn fragmented emergency signals into a verified, coordinated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Bano Qabil AI Hackathon 2026: https://banoqabil.org/hackathon</a:t>
            </a:r>
          </a:p>
          <a:p xmlns:a="http://schemas.openxmlformats.org/drawingml/2006/main">
            <a:r>
              <a:t>- Alibaba Cloud Global AI Hackathon Series: https://www.alibabacloud.com/en/developer/global-ai-hackathon-series</a:t>
            </a:r>
          </a:p>
          <a:p xmlns:a="http://schemas.openxmlformats.org/drawingml/2006/main">
            <a:r>
              <a:t>- Visual: OpenAI ImageGen, CIRO Pakistan network map, 3 September 2026.</a:t>
            </a:r>
          </a:p>
          <a:p xmlns:a="http://schemas.openxmlformats.org/drawingml/2006/main">
            <a:r>
              <a:t>- CIRO concept brief provided by the project team, 3 September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coordination latency. CIRO does not replace emergency services; it gives them a faster shared operating picture.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OpenAI ImageGen, connected emergency response scene, 3 September 2026.</a:t>
            </a:r>
          </a:p>
          <a:p xmlns:a="http://schemas.openxmlformats.org/drawingml/2006/main">
            <a:r>
              <a:t>- CIRO concept brief provided by the project team, 3 September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AI accelerates interpretation and routing, while governance remains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CIRO concept brief provided by the project team, 3 September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CIRO as a coordinated product ecosystem rather than a single reporting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OpenAI ImageGen, CIRO product ecosystem device mockup, 3 September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Qwen in Alibaba Cloud Model Studio can interpret multilingual text and multimodal inputs. Confidence remains a policy input, not final authority; thresholds differ by incident type and agency.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Alibaba Cloud Model Studio overview: https://www.alibabacloud.com/help/en/model-studio/what-is-model-studio</a:t>
            </a:r>
          </a:p>
          <a:p xmlns:a="http://schemas.openxmlformats.org/drawingml/2006/main">
            <a:r>
              <a:t>- Alibaba Cloud Qwen API reference: https://www.alibabacloud.com/help/en/model-studio/qwen-api-reference/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citizen alerts are geofenced and template-based. Medical and other private cases should not become public broadcasts.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Firebase Cloud Messaging topic messaging: https://firebase.google.com/docs/cloud-messaging/topic-messaging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satellites as an additional evidence layer. Their value is strongest for broad-area hazards and post-event mapping, while phones, responders and sensors lead immediate street-level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OpenAI ImageGen, satellite-assisted disaster intelligence, 3 September 2026.</a:t>
            </a:r>
          </a:p>
          <a:p xmlns:a="http://schemas.openxmlformats.org/drawingml/2006/main">
            <a:r>
              <a:t>- NASA FIRMS: https://firms.modaps.eosdis.nasa.gov/</a:t>
            </a:r>
          </a:p>
          <a:p xmlns:a="http://schemas.openxmlformats.org/drawingml/2006/main">
            <a:r>
              <a:t>- Copernicus Sentinel-1 flood mapping: https://sentinels.copernicus.eu/web/success-stories/-/sentinel-1-focuses-on-floods</a:t>
            </a:r>
          </a:p>
          <a:p xmlns:a="http://schemas.openxmlformats.org/drawingml/2006/main">
            <a:r>
              <a:t>- Copernicus Rapid Mapping: https://mapping.emergency.copernicus.eu/about/rapid-mapping-portfolio/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clear that these times are illustrative targets used to explain the desired workflow, not validated operational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CIRO concept brief provided by the project team, 3 September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trust argument. Explain how CIRO is designed to fail safely and preserve human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CIRO concept brief provided by the project team, 3 September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this as an Alibaba Cloud-native reference architecture. API Gateway and Function Compute handle intake and orchestration; Model Studio/Qwen and PAI support intelligence; RDS and OSS separate structured records from media; EventBridge routes verified events; RAM, KMS and Simple Log Service support governance.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Alibaba Cloud API Gateway supported backends: https://www.alibabacloud.com/help/en/api-gateway/traditional-api-gateway/user-guide/support-for-multiple-api-backend-services/</a:t>
            </a:r>
          </a:p>
          <a:p xmlns:a="http://schemas.openxmlformats.org/drawingml/2006/main">
            <a:r>
              <a:t>- Alibaba Cloud Function Compute triggers: https://www.alibabacloud.com/help/en/functioncompute/fc/user-guide/trigger-overview</a:t>
            </a:r>
          </a:p>
          <a:p xmlns:a="http://schemas.openxmlformats.org/drawingml/2006/main">
            <a:r>
              <a:t>- Alibaba Cloud Model Studio overview: https://www.alibabacloud.com/help/en/model-studio/what-is-model-studio</a:t>
            </a:r>
          </a:p>
          <a:p xmlns:a="http://schemas.openxmlformats.org/drawingml/2006/main">
            <a:r>
              <a:t>- Alibaba Cloud RDS + OSS storage pattern: https://www.alibabacloud.com/help/en/rds/apsaradb-rds-for-mysql/use-apsaradb-rds-with-oss-to-store-data-in-various-structures</a:t>
            </a:r>
          </a:p>
          <a:p xmlns:a="http://schemas.openxmlformats.org/drawingml/2006/main">
            <a:r>
              <a:t>- Alibaba Cloud Simple Log Service: https://www.alibabacloud.com/help/en/sls/collection-of-alibaba-cloud-service-logs/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concept directly to the Alibaba Cloud AI Hackathon: a demonstrable AI workflow, cloud-native implementation and a locally meaningful public-safety use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Bano Qabil AI Hackathon 2026: https://banoqabil.org/hackathon</a:t>
            </a:r>
          </a:p>
          <a:p xmlns:a="http://schemas.openxmlformats.org/drawingml/2006/main">
            <a:r>
              <a:t>- Alibaba Cloud Global AI Hackathon Series: https://www.alibabacloud.com/en/developer/global-ai-hackathon-series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core system diagram. CIRO automatically structures and scores evidence, but public alerts and high-risk actions only occur under configured policy thresholds or human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Alibaba Cloud Model Studio overview: https://www.alibabacloud.com/help/en/model-studio/what-is-model-studio</a:t>
            </a:r>
          </a:p>
          <a:p xmlns:a="http://schemas.openxmlformats.org/drawingml/2006/main">
            <a:r>
              <a:t>- Alibaba Cloud Qwen API reference: https://www.alibabacloud.com/help/en/model-studio/qwen-api-reference/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limits clearly: satellite data is powerful for broad-area hazards, but revisits, cloud cover and resolution mean it complements rather than replaces ground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NASA FIRMS: https://firms.modaps.eosdis.nasa.gov/</a:t>
            </a:r>
          </a:p>
          <a:p xmlns:a="http://schemas.openxmlformats.org/drawingml/2006/main">
            <a:r>
              <a:t>- Copernicus Sentinel-1 flood mapping: https://sentinels.copernicus.eu/web/success-stories/-/sentinel-1-focuses-on-floods</a:t>
            </a:r>
          </a:p>
          <a:p xmlns:a="http://schemas.openxmlformats.org/drawingml/2006/main">
            <a:r>
              <a:t>- Copernicus Rapid Mapping: https://mapping.emergency.copernicus.eu/about/rapid-mapping-portfolio/</a:t>
            </a:r>
          </a:p>
          <a:p xmlns:a="http://schemas.openxmlformats.org/drawingml/2006/main">
            <a:r>
              <a:t>- Alibaba Cloud RDS + OSS storage pattern: https://www.alibabacloud.com/help/en/rds/apsaradb-rds-for-mysql/use-apsaradb-rds-with-oss-to-store-data-in-various-structures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diagram to show role-based information flow: citizens submit and track; responders receive operational details; command staff approve and coordinate; affected communities receive verified guidance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CIRO concept brief provided by the project team, 3 September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judges to support a controlled Sialkot pilot. Keep the first deployment narrow, observable and reversible.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CIRO concept brief provided by the project team, 3 September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these as pilot targets and scorecard dimensions. Replace them with validated baseline and outcome data after the controlled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CIRO concept brief provided by the project team, 3 September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adoption as a focused institutional model. Pricing should be finalized only after partner discovery and pilot scope are 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CIRO concept brief provided by the project team, 3 September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the hackathon ecosystem for Alibaba Cloud mentorship, emergency-domain validation and a controlled pilot pathway. Invite questions around safety, verification and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Bano Qabil AI Hackathon 2026: https://banoqabil.org/hackathon</a:t>
            </a:r>
          </a:p>
          <a:p xmlns:a="http://schemas.openxmlformats.org/drawingml/2006/main">
            <a:r>
              <a:t>- Visual: OpenAI ImageGen, CIRO Pakistan network map, 3 September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17af811f043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6a22b971f3479e" /><Relationship Type="http://schemas.openxmlformats.org/officeDocument/2006/relationships/slideLayout" Target="/ppt/slideLayouts/slideLayout1.xml" Id="R00a81f3ae19e4c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a81f3ae19e4c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de483387d4a2b" /><Relationship Type="http://schemas.openxmlformats.org/officeDocument/2006/relationships/image" Target="/ppt/media/image.png" Id="R3ba1c96d6ac64636" /><Relationship Type="http://schemas.openxmlformats.org/officeDocument/2006/relationships/notesSlide" Target="/ppt/notesSlides/notesSlide1.xml" Id="R54b3fc3a4e354c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6f71ee1864a38" /><Relationship Type="http://schemas.openxmlformats.org/officeDocument/2006/relationships/image" Target="/ppt/media/image2.png" Id="R7bab6cbe7a5f461e" /><Relationship Type="http://schemas.openxmlformats.org/officeDocument/2006/relationships/notesSlide" Target="/ppt/notesSlides/notesSlide2.xml" Id="Ra8e5470257f742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396dc673243a3" /><Relationship Type="http://schemas.openxmlformats.org/officeDocument/2006/relationships/notesSlide" Target="/ppt/notesSlides/notesSlide3.xml" Id="Rd6b52bfd858c4f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caa9c34dc4163" /><Relationship Type="http://schemas.openxmlformats.org/officeDocument/2006/relationships/image" Target="/ppt/media/image3.png" Id="Rc00c7091a76a43a2" /><Relationship Type="http://schemas.openxmlformats.org/officeDocument/2006/relationships/notesSlide" Target="/ppt/notesSlides/notesSlide4.xml" Id="R53f67f0e5d4543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ac62c48414253" /><Relationship Type="http://schemas.openxmlformats.org/officeDocument/2006/relationships/notesSlide" Target="/ppt/notesSlides/notesSlide5.xml" Id="R632a4a9a2d0e47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d73d84668434f" /><Relationship Type="http://schemas.openxmlformats.org/officeDocument/2006/relationships/notesSlide" Target="/ppt/notesSlides/notesSlide6.xml" Id="R89218a44d8e64a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7e580e6ec4eae" /><Relationship Type="http://schemas.openxmlformats.org/officeDocument/2006/relationships/image" Target="/ppt/media/image4.png" Id="R63e7ce2d218c4726" /><Relationship Type="http://schemas.openxmlformats.org/officeDocument/2006/relationships/notesSlide" Target="/ppt/notesSlides/notesSlide7.xml" Id="Ra6b2134ed4f643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53140febf494d" /><Relationship Type="http://schemas.openxmlformats.org/officeDocument/2006/relationships/notesSlide" Target="/ppt/notesSlides/notesSlide8.xml" Id="Rc1fb42a289bc46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1ec3d7abd40c1" /><Relationship Type="http://schemas.openxmlformats.org/officeDocument/2006/relationships/notesSlide" Target="/ppt/notesSlides/notesSlide9.xml" Id="Re46106632c0049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a2162430d4e89" /><Relationship Type="http://schemas.openxmlformats.org/officeDocument/2006/relationships/notesSlide" Target="/ppt/notesSlides/notesSlide10.xml" Id="R36f7c2903c1a4d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077a90dbd48d5" /><Relationship Type="http://schemas.openxmlformats.org/officeDocument/2006/relationships/notesSlide" Target="/ppt/notesSlides/notesSlide11.xml" Id="Rbbe791c93bc845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2b870977d4c84" /><Relationship Type="http://schemas.openxmlformats.org/officeDocument/2006/relationships/notesSlide" Target="/ppt/notesSlides/notesSlide12.xml" Id="R65100871ecb84e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ef6e0640c46e4" /><Relationship Type="http://schemas.openxmlformats.org/officeDocument/2006/relationships/notesSlide" Target="/ppt/notesSlides/notesSlide13.xml" Id="R8f734d3756474a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5afde9de6436f" /><Relationship Type="http://schemas.openxmlformats.org/officeDocument/2006/relationships/notesSlide" Target="/ppt/notesSlides/notesSlide14.xml" Id="R7c8f4b3a288a40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9b95b46e54ff6" /><Relationship Type="http://schemas.openxmlformats.org/officeDocument/2006/relationships/notesSlide" Target="/ppt/notesSlides/notesSlide15.xml" Id="R7ec9b46ea65047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ac9b1a0c14b10" /><Relationship Type="http://schemas.openxmlformats.org/officeDocument/2006/relationships/notesSlide" Target="/ppt/notesSlides/notesSlide16.xml" Id="R3559b152ef924a9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a97c05de044db" /><Relationship Type="http://schemas.openxmlformats.org/officeDocument/2006/relationships/notesSlide" Target="/ppt/notesSlides/notesSlide17.xml" Id="R33cf1e8cd40640b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a2eeee3ca4f3d" /><Relationship Type="http://schemas.openxmlformats.org/officeDocument/2006/relationships/image" Target="/ppt/media/image5.png" Id="R6cd15463139f46ea" /><Relationship Type="http://schemas.openxmlformats.org/officeDocument/2006/relationships/notesSlide" Target="/ppt/notesSlides/notesSlide18.xml" Id="Rbf69ff3305704b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1c96d6ac6463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834FE-F310-45B6-8A72-DC127B82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714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61B"/>
          </a:solidFill>
          <a:ln xmlns:a="http://schemas.openxmlformats.org/drawingml/2006/main" w="9525">
            <a:solidFill>
              <a:srgbClr val="FF6A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820E2-0E64-488A-8E66-2D2A4F01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448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8BF"/>
                </a:solidFill>
              </a:defRPr>
            </a:pPr>
            <a:r>
              <a:rPr sz="900" b="1">
                <a:solidFill>
                  <a:srgbClr val="FFD8BF"/>
                </a:solidFill>
              </a:rPr>
              <a:t>ALIBABA CLOUD × BANO QABIL AI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23F24-0BEC-4834-B1B5-F7B7EC55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CIRO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88E3F-43F7-4220-8420-298EDE80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BD4FF"/>
                </a:solidFill>
              </a:defRPr>
            </a:pPr>
            <a:r>
              <a:rPr sz="1725" b="0">
                <a:solidFill>
                  <a:srgbClr val="BBD4FF"/>
                </a:solidFill>
              </a:rPr>
              <a:t>Crisis Intelligence &amp;</a:t>
            </a:r>
          </a:p>
          <a:p xmlns:a="http://schemas.openxmlformats.org/drawingml/2006/main">
            <a:pPr algn="l">
              <a:defRPr sz="1725" b="0">
                <a:solidFill>
                  <a:srgbClr val="BBD4FF"/>
                </a:solidFill>
              </a:defRPr>
            </a:pPr>
            <a:r>
              <a:rPr sz="1725" b="0">
                <a:solidFill>
                  <a:srgbClr val="BBD4FF"/>
                </a:solidFill>
              </a:rPr>
              <a:t>Response Orchestrator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4D375-75FA-4003-AE16-D58F191B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5715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Verified intelligence.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Faster response.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551DD-83F0-4CD1-A654-B7132E4C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4E4FF"/>
                </a:solidFill>
              </a:defRPr>
            </a:pPr>
            <a:r>
              <a:rPr sz="1500" b="0">
                <a:solidFill>
                  <a:srgbClr val="D4E4FF"/>
                </a:solidFill>
              </a:rPr>
              <a:t>A Pakistan-first emergency platform connecting citizens, AI,</a:t>
            </a:r>
          </a:p>
          <a:p xmlns:a="http://schemas.openxmlformats.org/drawingml/2006/main">
            <a:pPr algn="l">
              <a:defRPr sz="1500" b="0">
                <a:solidFill>
                  <a:srgbClr val="D4E4FF"/>
                </a:solidFill>
              </a:defRPr>
            </a:pPr>
            <a:r>
              <a:rPr sz="1500" b="0">
                <a:solidFill>
                  <a:srgbClr val="D4E4FF"/>
                </a:solidFill>
              </a:rPr>
              <a:t>response teams and command centers in one trusted loop.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34639-0FA0-4403-B08B-CD75B8DF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2095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E695B-111C-41D1-9429-45BBC447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C7F2"/>
                </a:solidFill>
              </a:defRPr>
            </a:pPr>
            <a:r>
              <a:rPr sz="975" b="1">
                <a:solidFill>
                  <a:srgbClr val="35C7F2"/>
                </a:solidFill>
              </a:rPr>
              <a:t>QWEN + HUMAN OVERSIGHT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7BDFE-0705-4A7B-AE24-FFBA56B2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67300"/>
            <a:ext cx="1752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0D086-F414-4945-A957-7680B390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054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DE0B7"/>
                </a:solidFill>
              </a:defRPr>
            </a:pPr>
            <a:r>
              <a:rPr sz="975" b="1">
                <a:solidFill>
                  <a:srgbClr val="7DE0B7"/>
                </a:solidFill>
              </a:rPr>
              <a:t>PAKISTAN-FOCUSED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8E770-5B3D-4A5B-A805-B433EBC5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C7F7"/>
                </a:solidFill>
              </a:defRPr>
            </a:pPr>
            <a:r>
              <a:rPr sz="1200" b="0">
                <a:solidFill>
                  <a:srgbClr val="A8C7F7"/>
                </a:solidFill>
              </a:rPr>
              <a:t>Presented by Saqib Azair  •  Pakistan</a:t>
            </a:r>
          </a:p>
        </p:txBody>
      </p:sp>
    </p:spTree>
    <p:extLst>
      <p:ext uri="{BB962C8B-B14F-4D97-AF65-F5344CB8AC3E}">
        <p14:creationId xmlns:p14="http://schemas.microsoft.com/office/powerpoint/2010/main" val="1792413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2ACA79-AE37-4B7C-9DC6-BD7C2E27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D"/>
                </a:solidFill>
              </a:defRPr>
            </a:pPr>
            <a:r>
              <a:rPr sz="1800" b="1">
                <a:solidFill>
                  <a:srgbClr val="071A3D"/>
                </a:solidFill>
              </a:rPr>
              <a:t>CIRO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7DECC-BA48-43A3-930D-B0FF4B8D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00"/>
                </a:solidFill>
              </a:defRPr>
            </a:pPr>
            <a:r>
              <a:rPr sz="825" b="1">
                <a:solidFill>
                  <a:srgbClr val="FF6A00"/>
                </a:solidFill>
              </a:rPr>
              <a:t>ALIBABA CLOUD × BANO QABIL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C97B8-2CE9-4054-9B64-924A0431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1809A"/>
                </a:solidFill>
              </a:defRPr>
            </a:pPr>
            <a:r>
              <a:rPr sz="675" b="1">
                <a:solidFill>
                  <a:srgbClr val="71809A"/>
                </a:solidFill>
              </a:rPr>
              <a:t>CRISIS INTELLIGENCE &amp;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A3947-06AE-4976-9011-CCBBBA92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A"/>
                </a:solidFill>
              </a:defRPr>
            </a:pPr>
            <a:r>
              <a:rPr sz="975" b="1">
                <a:solidFill>
                  <a:srgbClr val="71809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D55D4-D768-4DF3-BD64-B34A5C7F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03FD2-CCBB-4AE3-8958-6B2C6DCF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44"/>
                </a:solidFill>
              </a:defRPr>
            </a:pPr>
            <a:r>
              <a:rPr sz="2925" b="1">
                <a:solidFill>
                  <a:srgbClr val="0B1F44"/>
                </a:solidFill>
              </a:rPr>
              <a:t>An emergency report loses time before help moves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955C7-4ED9-458B-AFA1-D5EB3F16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36F"/>
                </a:solidFill>
              </a:defRPr>
            </a:pPr>
            <a:r>
              <a:rPr sz="1425" b="0">
                <a:solidFill>
                  <a:srgbClr val="43536F"/>
                </a:solidFill>
              </a:rPr>
              <a:t>The core problem is not a lack of signals — it is fragmented verification and coordination.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b6cbe7a5f461e"/>
          <a:srcRect xmlns:a="http://schemas.openxmlformats.org/drawingml/2006/main" l="12436" t="0" r="124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076450"/>
            <a:ext cx="546735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187CE-D758-4476-A035-E5F28D90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62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3D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833BE-F432-4301-A5CF-9FD90C04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44"/>
                </a:solidFill>
              </a:defRPr>
            </a:pPr>
            <a:r>
              <a:rPr sz="1500" b="1">
                <a:solidFill>
                  <a:srgbClr val="0B1F44"/>
                </a:solidFill>
              </a:rPr>
              <a:t>Scattered 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37BE9-AEC6-4087-B56B-FECDF239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4686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36F"/>
                </a:solidFill>
              </a:defRPr>
            </a:pPr>
            <a:r>
              <a:rPr sz="1200" b="0">
                <a:solidFill>
                  <a:srgbClr val="43536F"/>
                </a:solidFill>
              </a:rPr>
              <a:t>Calls, messages, photos and local observations arrive through disconnected channels.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B68E2-6E30-48D5-A4F3-0DFBED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09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1ACC8-D8C1-4687-8BFF-C9121717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44"/>
                </a:solidFill>
              </a:defRPr>
            </a:pPr>
            <a:r>
              <a:rPr sz="1500" b="1">
                <a:solidFill>
                  <a:srgbClr val="0B1F44"/>
                </a:solidFill>
              </a:rPr>
              <a:t>Manual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7212B-A8EF-4756-8D94-B67F2990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4686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36F"/>
                </a:solidFill>
              </a:defRPr>
            </a:pPr>
            <a:r>
              <a:rPr sz="1200" b="0">
                <a:solidFill>
                  <a:srgbClr val="43536F"/>
                </a:solidFill>
              </a:rPr>
              <a:t>Dispatchers spend critical minutes confirming location, severity and duplication.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5BCB4-F4AD-4F6B-B5F5-A763AFC0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7F716-4BFD-4606-92A8-873CFD09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44"/>
                </a:solidFill>
              </a:defRPr>
            </a:pPr>
            <a:r>
              <a:rPr sz="1500" b="1">
                <a:solidFill>
                  <a:srgbClr val="0B1F44"/>
                </a:solidFill>
              </a:rPr>
              <a:t>Delayed public warning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E65341-6AF0-49FB-BF86-25F786B0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95825"/>
            <a:ext cx="4686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36F"/>
                </a:solidFill>
              </a:defRPr>
            </a:pPr>
            <a:r>
              <a:rPr sz="1200" b="0">
                <a:solidFill>
                  <a:srgbClr val="43536F"/>
                </a:solidFill>
              </a:rPr>
              <a:t>Nearby teams and citizens may receive incomplete or late information.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10AE4-C026-4ABD-8580-10C0DCEC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49720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BDA9C3-9F51-47EE-9EA5-63129BF8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C7F2"/>
                </a:solidFill>
              </a:defRPr>
            </a:pPr>
            <a:r>
              <a:rPr sz="1200" b="1">
                <a:solidFill>
                  <a:srgbClr val="35C7F2"/>
                </a:solidFill>
              </a:rPr>
              <a:t>Opportunity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E5A956-B1B0-4B63-A7A8-9AC1FB05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95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Verify once. Coordinate everyone.</a:t>
            </a:r>
          </a:p>
        </p:txBody>
      </p:sp>
    </p:spTree>
    <p:extLst>
      <p:ext uri="{BB962C8B-B14F-4D97-AF65-F5344CB8AC3E}">
        <p14:creationId xmlns:p14="http://schemas.microsoft.com/office/powerpoint/2010/main" val="1942427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9B6D29-172E-4B61-8B92-82011404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D"/>
                </a:solidFill>
              </a:defRPr>
            </a:pPr>
            <a:r>
              <a:rPr sz="1800" b="1">
                <a:solidFill>
                  <a:srgbClr val="071A3D"/>
                </a:solidFill>
              </a:rPr>
              <a:t>CIRO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D015B-CDA8-45D2-BA21-28ED5DDB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00"/>
                </a:solidFill>
              </a:defRPr>
            </a:pPr>
            <a:r>
              <a:rPr sz="825" b="1">
                <a:solidFill>
                  <a:srgbClr val="FF6A00"/>
                </a:solidFill>
              </a:rPr>
              <a:t>ALIBABA CLOUD × BANO QABIL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DBA01-3836-4D41-9BF8-61F94D1F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1809A"/>
                </a:solidFill>
              </a:defRPr>
            </a:pPr>
            <a:r>
              <a:rPr sz="675" b="1">
                <a:solidFill>
                  <a:srgbClr val="71809A"/>
                </a:solidFill>
              </a:rPr>
              <a:t>CRISIS INTELLIGENCE &amp;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277A4-6994-4D01-8B24-4DE97C16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A"/>
                </a:solidFill>
              </a:defRPr>
            </a:pPr>
            <a:r>
              <a:rPr sz="975" b="1">
                <a:solidFill>
                  <a:srgbClr val="71809A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9C3D3-3C14-4A6C-B03A-2834633C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330A1-6D99-4ED4-AB72-EE28D2C3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44"/>
                </a:solidFill>
              </a:defRPr>
            </a:pPr>
            <a:r>
              <a:rPr sz="2925" b="1">
                <a:solidFill>
                  <a:srgbClr val="0B1F44"/>
                </a:solidFill>
              </a:rPr>
              <a:t>CIRO creates one verified response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26F51-C9B3-49D2-8D67-ED3E1BEF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36F"/>
                </a:solidFill>
              </a:defRPr>
            </a:pPr>
            <a:r>
              <a:rPr sz="1425" b="0">
                <a:solidFill>
                  <a:srgbClr val="43536F"/>
                </a:solidFill>
              </a:rPr>
              <a:t>Every step is visible, governed and designed to reduce avoidable delay.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2DE57-CE48-481B-B1B5-A420AFFE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385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42BDB-7E3E-47F5-AD41-9351D061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718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F39D4-710E-42AA-AF41-19F54CF2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3154B-ADD5-4128-A4C7-7DE9A1B8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D9789-B52D-4C7A-A0C8-C84B38F7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44"/>
                </a:solidFill>
              </a:defRPr>
            </a:pPr>
            <a:r>
              <a:rPr sz="1800" b="1">
                <a:solidFill>
                  <a:srgbClr val="0B1F44"/>
                </a:solidFill>
              </a:rPr>
              <a:t>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55502-EFC7-4DD7-BE9E-94D9E868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3536F"/>
                </a:solidFill>
              </a:defRPr>
            </a:pPr>
            <a:r>
              <a:rPr sz="1200" b="0">
                <a:solidFill>
                  <a:srgbClr val="43536F"/>
                </a:solidFill>
              </a:rPr>
              <a:t>Text, voice, photo, GPS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BB9B2-688B-4152-9C23-BFFEAB59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385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F45E1-8C4F-4D6A-923F-A8537F8D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718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54AAA-7BDB-41F4-AA76-E069E7D7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14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12DF19-E6FF-43F8-8B5E-2EFF16CE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479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496EB-A909-4CF7-B7B3-09EC56FF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766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44"/>
                </a:solidFill>
              </a:defRPr>
            </a:pPr>
            <a:r>
              <a:rPr sz="1800" b="1">
                <a:solidFill>
                  <a:srgbClr val="0B1F44"/>
                </a:solidFill>
              </a:rPr>
              <a:t>Verify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21CB6-0CDB-473C-88E2-DDA7CA3D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86200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3536F"/>
                </a:solidFill>
              </a:defRPr>
            </a:pPr>
            <a:r>
              <a:rPr sz="1200" b="0">
                <a:solidFill>
                  <a:srgbClr val="43536F"/>
                </a:solidFill>
              </a:rPr>
              <a:t>AI fuses multiple signals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A541B-204D-40C7-B95A-6983061E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385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0A71CB-2575-48E7-AF2B-EE3A5BC2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718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37EB9F-1BA1-4A36-B649-E8515220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14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268467-CF5E-4834-A078-83B5EB0D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479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0515F-6FCF-4FCC-B736-27F8FE59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44"/>
                </a:solidFill>
              </a:defRPr>
            </a:pPr>
            <a:r>
              <a:rPr sz="1800" b="1">
                <a:solidFill>
                  <a:srgbClr val="0B1F44"/>
                </a:solidFill>
              </a:rPr>
              <a:t>Approve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D1903F-DDF5-4DC8-9AEE-0D1CE516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3536F"/>
                </a:solidFill>
              </a:defRPr>
            </a:pPr>
            <a:r>
              <a:rPr sz="1200" b="0">
                <a:solidFill>
                  <a:srgbClr val="43536F"/>
                </a:solidFill>
              </a:rPr>
              <a:t>Human review when required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49ABB6-29A7-41A5-B7B3-C8D12AF3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15810A-A861-4736-A334-CD1F5E32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718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1CA1F7-95F4-43E8-B7FC-EE9066F1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14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C1FE46-52F7-4351-8C51-F59064E1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CB36EC-4F3A-4BF6-A030-D94288B5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766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44"/>
                </a:solidFill>
              </a:defRPr>
            </a:pPr>
            <a:r>
              <a:rPr sz="1800" b="1">
                <a:solidFill>
                  <a:srgbClr val="0B1F44"/>
                </a:solidFill>
              </a:rPr>
              <a:t>Respond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B93CA1-AEB3-46BA-8D96-6022E9D9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3536F"/>
                </a:solidFill>
              </a:defRPr>
            </a:pPr>
            <a:r>
              <a:rPr sz="1200" b="0">
                <a:solidFill>
                  <a:srgbClr val="43536F"/>
                </a:solidFill>
              </a:rPr>
              <a:t>Nearest team is notified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4BD947-FA81-4286-93ED-1791059D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14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F8FD7F-C343-47F8-A7E9-09A6BA30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479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C0F26F-9A9D-491F-B562-12D1DA83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766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44"/>
                </a:solidFill>
              </a:defRPr>
            </a:pPr>
            <a:r>
              <a:rPr sz="1800" b="1">
                <a:solidFill>
                  <a:srgbClr val="0B1F44"/>
                </a:solidFill>
              </a:rPr>
              <a:t>Alert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857F9A-F104-477D-8A0C-F719DF39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86200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3536F"/>
                </a:solidFill>
              </a:defRPr>
            </a:pPr>
            <a:r>
              <a:rPr sz="1200" b="0">
                <a:solidFill>
                  <a:srgbClr val="43536F"/>
                </a:solidFill>
              </a:rPr>
              <a:t>Affected citizens get guidance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D712EA-B630-4E6C-AC59-03C26A6A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46694D-B6C2-4171-962D-CA1FB525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054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EEF"/>
                </a:solidFill>
              </a:defRPr>
            </a:pPr>
            <a:r>
              <a:rPr sz="1350" b="1">
                <a:solidFill>
                  <a:srgbClr val="155EEF"/>
                </a:solidFill>
              </a:rPr>
              <a:t>Design principle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DC5C15-2A37-4DDA-B7EB-32DBC39A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3875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44"/>
                </a:solidFill>
              </a:defRPr>
            </a:pPr>
            <a:r>
              <a:rPr sz="1725" b="1">
                <a:solidFill>
                  <a:srgbClr val="0B1F44"/>
                </a:solidFill>
              </a:rPr>
              <a:t>Automate detection and communication — keep authority, accountability and exceptions with people.</a:t>
            </a:r>
          </a:p>
        </p:txBody>
      </p:sp>
    </p:spTree>
    <p:extLst>
      <p:ext uri="{BB962C8B-B14F-4D97-AF65-F5344CB8AC3E}">
        <p14:creationId xmlns:p14="http://schemas.microsoft.com/office/powerpoint/2010/main" val="1791472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CD662-FD5F-4B08-98D1-C3288E4A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E701D-89E8-4267-A6F3-1CB289C7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8BF"/>
                </a:solidFill>
              </a:defRPr>
            </a:pPr>
            <a:r>
              <a:rPr sz="825" b="1">
                <a:solidFill>
                  <a:srgbClr val="FFD8BF"/>
                </a:solidFill>
              </a:rPr>
              <a:t>ALIBABA CLOUD × BANO QABIL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A98EA-D056-48AB-B566-34B0B1F3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7D2FF"/>
                </a:solidFill>
              </a:defRPr>
            </a:pPr>
            <a:r>
              <a:rPr sz="675" b="1">
                <a:solidFill>
                  <a:srgbClr val="B7D2FF"/>
                </a:solidFill>
              </a:rPr>
              <a:t>CRISIS INTELLIGENCE &amp;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295EE-30C1-40D2-BAA1-8D7C2B7F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C8FF"/>
                </a:solidFill>
              </a:defRPr>
            </a:pPr>
            <a:r>
              <a:rPr sz="975" b="1">
                <a:solidFill>
                  <a:srgbClr val="A9C8FF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49D9D-A6BD-47DD-8D7D-CED547E8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E5BF0-9B29-46FA-9AF2-1F8002D1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One system, three coordinated experiences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CADC3-AD38-4219-8555-B159E2F6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DD3F5"/>
                </a:solidFill>
              </a:defRPr>
            </a:pPr>
            <a:r>
              <a:rPr sz="1425" b="0">
                <a:solidFill>
                  <a:srgbClr val="BDD3F5"/>
                </a:solidFill>
              </a:rPr>
              <a:t>The same verified incident state reaches every participant without duplicating work.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c7091a76a43a2"/>
          <a:srcRect xmlns:a="http://schemas.openxmlformats.org/drawingml/2006/main" l="4902" t="0" r="49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885950"/>
            <a:ext cx="6991350" cy="4362450"/>
          </a:xfrm>
          <a:prstGeom xmlns:a="http://schemas.openxmlformats.org/drawingml/2006/main" prst="roundRect">
            <a:avLst>
              <a:gd name="adj" fmla="val 349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ED349-3BE0-49E2-BCAA-41990E51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09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2CDC3-5585-41C8-B3F8-FB184CB0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Citizen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A4F77-23A4-410A-B40B-43CCA2F5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1EC"/>
                </a:solidFill>
              </a:defRPr>
            </a:pPr>
            <a:r>
              <a:rPr sz="1275" b="0">
                <a:solidFill>
                  <a:srgbClr val="BFD1EC"/>
                </a:solidFill>
              </a:rPr>
              <a:t>Report, receive guidance, track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71B1F-C87E-448A-9403-008BBCA0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0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9EAA5-A4DA-47B0-8F27-0FFDF7A2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Responder workspace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60E0-EADB-4C33-B69B-5BA8AFE4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1EC"/>
                </a:solidFill>
              </a:defRPr>
            </a:pPr>
            <a:r>
              <a:rPr sz="1275" b="0">
                <a:solidFill>
                  <a:srgbClr val="BFD1EC"/>
                </a:solidFill>
              </a:rPr>
              <a:t>Accept dispatch, navigate, update scene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E408A-8381-423D-A50E-97D3C0D5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48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73E35-2439-4790-8D29-11C2AB1D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Command center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AE968-4A6C-443B-8E5C-E33C59E4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1EC"/>
                </a:solidFill>
              </a:defRPr>
            </a:pPr>
            <a:r>
              <a:rPr sz="1275" b="0">
                <a:solidFill>
                  <a:srgbClr val="BFD1EC"/>
                </a:solidFill>
              </a:rPr>
              <a:t>Verify, coordinate, monitor and audit</a:t>
            </a:r>
          </a:p>
        </p:txBody>
      </p:sp>
    </p:spTree>
    <p:extLst>
      <p:ext uri="{BB962C8B-B14F-4D97-AF65-F5344CB8AC3E}">
        <p14:creationId xmlns:p14="http://schemas.microsoft.com/office/powerpoint/2010/main" val="4922063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29FE85-3F40-42BB-9420-57056CD5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D"/>
                </a:solidFill>
              </a:defRPr>
            </a:pPr>
            <a:r>
              <a:rPr sz="1800" b="1">
                <a:solidFill>
                  <a:srgbClr val="071A3D"/>
                </a:solidFill>
              </a:rPr>
              <a:t>CIRO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71078-F7C2-4D1A-9E97-6E8861EA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00"/>
                </a:solidFill>
              </a:defRPr>
            </a:pPr>
            <a:r>
              <a:rPr sz="825" b="1">
                <a:solidFill>
                  <a:srgbClr val="FF6A00"/>
                </a:solidFill>
              </a:rPr>
              <a:t>ALIBABA CLOUD × BANO QABIL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57748-57D0-42B6-BAFF-87707E6A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1809A"/>
                </a:solidFill>
              </a:defRPr>
            </a:pPr>
            <a:r>
              <a:rPr sz="675" b="1">
                <a:solidFill>
                  <a:srgbClr val="71809A"/>
                </a:solidFill>
              </a:rPr>
              <a:t>CRISIS INTELLIGENCE &amp;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8C95C-1DF9-4F96-B2AA-60A7BA46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A"/>
                </a:solidFill>
              </a:defRPr>
            </a:pPr>
            <a:r>
              <a:rPr sz="975" b="1">
                <a:solidFill>
                  <a:srgbClr val="71809A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B8F7F-1CE7-485B-84E8-84785175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2DD98-4EE4-4351-A77A-2B58A26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44"/>
                </a:solidFill>
              </a:defRPr>
            </a:pPr>
            <a:r>
              <a:rPr sz="2925" b="1">
                <a:solidFill>
                  <a:srgbClr val="0B1F44"/>
                </a:solidFill>
              </a:rPr>
              <a:t>Qwen helps verify incidents by combining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5879C-4ECA-4D03-80C3-107630DB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36F"/>
                </a:solidFill>
              </a:defRPr>
            </a:pPr>
            <a:r>
              <a:rPr sz="1425" b="0">
                <a:solidFill>
                  <a:srgbClr val="43536F"/>
                </a:solidFill>
              </a:rPr>
              <a:t>Model Studio interprets multilingual reports; policy thresholds and people govern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23CDB-D357-473B-934B-BA460BC0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19621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6B2BF-74DF-4B56-9FEA-91A7E153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44"/>
                </a:solidFill>
              </a:defRPr>
            </a:pPr>
            <a:r>
              <a:rPr sz="1275" b="1">
                <a:solidFill>
                  <a:srgbClr val="0B1F44"/>
                </a:solidFill>
              </a:rPr>
              <a:t>Citizen 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52568-FF89-4F3E-B43E-92CDBD5A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0030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99996-0E3F-4E50-815C-5E27B906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336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7259E-12B3-47C3-807D-7BD41ED7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19621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AE84F-30FA-472C-87E0-551FB9D4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44"/>
                </a:solidFill>
              </a:defRPr>
            </a:pPr>
            <a:r>
              <a:rPr sz="1275" b="1">
                <a:solidFill>
                  <a:srgbClr val="0B1F44"/>
                </a:solidFill>
              </a:rPr>
              <a:t>GPS +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0F84F-E531-4A23-8B44-32818FF6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2420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285E3-C8B4-4AA3-B6F8-BB1F8C8B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575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544E1-E8DB-437B-9F69-664848DE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19621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CA48D-6EA8-42D0-88CC-C45D6651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44"/>
                </a:solidFill>
              </a:defRPr>
            </a:pPr>
            <a:r>
              <a:rPr sz="1275" b="1">
                <a:solidFill>
                  <a:srgbClr val="0B1F44"/>
                </a:solidFill>
              </a:rPr>
              <a:t>Photo / video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DADB0-032D-4E1D-980F-7ED66E76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6901E-E266-4FF5-BDDF-7A0D8C03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814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7F46D5-8EBA-43DC-9AC3-36DAE163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19621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AC29C-2765-4039-8204-D78DAF31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44"/>
                </a:solidFill>
              </a:defRPr>
            </a:pPr>
            <a:r>
              <a:rPr sz="1275" b="1">
                <a:solidFill>
                  <a:srgbClr val="0B1F44"/>
                </a:solidFill>
              </a:rPr>
              <a:t>Nearby reports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35EC4D-30AB-49ED-8E0D-565248FF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7200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049824-B2A3-429A-9C64-E5D4B2E8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053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0DC1F8-B278-4592-A7C9-44E25C9F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19621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CD9D3-AACE-4C6C-BFBE-B490E719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44"/>
                </a:solidFill>
              </a:defRPr>
            </a:pPr>
            <a:r>
              <a:rPr sz="1275" b="1">
                <a:solidFill>
                  <a:srgbClr val="0B1F44"/>
                </a:solidFill>
              </a:rPr>
              <a:t>Weather / sensors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715035-51B8-4032-86EF-1A4B4EF6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9590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1E21BE-914A-4E6D-B0A7-42B854CC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2292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01037F-A8C3-4ACB-B5A6-4278CD5B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146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0AAEB3-95F7-4972-A08F-BBDA04A4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85A"/>
          </a:solidFill>
          <a:ln xmlns:a="http://schemas.openxmlformats.org/drawingml/2006/main" w="19050">
            <a:solidFill>
              <a:srgbClr val="35C7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31AE1D-66F1-460C-B246-8C6F1267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813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QWEN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ED165B-AF91-401E-94B0-57DA402F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95700"/>
            <a:ext cx="1390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D6FF"/>
                </a:solidFill>
              </a:defRPr>
            </a:pPr>
            <a:r>
              <a:rPr sz="1350" b="0">
                <a:solidFill>
                  <a:srgbClr val="B9D6FF"/>
                </a:solidFill>
              </a:rPr>
              <a:t>Classify</a:t>
            </a:r>
          </a:p>
          <a:p xmlns:a="http://schemas.openxmlformats.org/drawingml/2006/main">
            <a:pPr algn="ctr">
              <a:defRPr sz="1350" b="0">
                <a:solidFill>
                  <a:srgbClr val="B9D6FF"/>
                </a:solidFill>
              </a:defRPr>
            </a:pPr>
            <a:r>
              <a:rPr sz="1350" b="0">
                <a:solidFill>
                  <a:srgbClr val="B9D6FF"/>
                </a:solidFill>
              </a:rPr>
              <a:t>Summarize</a:t>
            </a:r>
          </a:p>
          <a:p xmlns:a="http://schemas.openxmlformats.org/drawingml/2006/main">
            <a:pPr algn="ctr">
              <a:defRPr sz="1350" b="0">
                <a:solidFill>
                  <a:srgbClr val="B9D6FF"/>
                </a:solidFill>
              </a:defRPr>
            </a:pPr>
            <a:r>
              <a:rPr sz="1350" b="0">
                <a:solidFill>
                  <a:srgbClr val="B9D6FF"/>
                </a:solidFill>
              </a:rPr>
              <a:t>Risk-score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2ED18D-F3C1-4968-AFB2-A78F74BF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FAC1D7-B153-4A95-BF00-62800189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480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7468AF-4313-49CD-97D5-8B515D26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36576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7F8F0"/>
          </a:solidFill>
          <a:ln xmlns:a="http://schemas.openxmlformats.org/drawingml/2006/main" w="9525">
            <a:solidFill>
              <a:srgbClr val="13A66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1A392B-56AD-4465-AFBA-27AE3D6B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A66A"/>
                </a:solidFill>
              </a:defRPr>
            </a:pPr>
            <a:r>
              <a:rPr sz="1200" b="1">
                <a:solidFill>
                  <a:srgbClr val="13A66A"/>
                </a:solidFill>
              </a:rPr>
              <a:t>VERIFIED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C6B2C1-3CDE-47BA-A22F-42B618DD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44"/>
                </a:solidFill>
              </a:defRPr>
            </a:pPr>
            <a:r>
              <a:rPr sz="1425" b="1">
                <a:solidFill>
                  <a:srgbClr val="0B1F44"/>
                </a:solidFill>
              </a:rPr>
              <a:t>Teams + affected citizens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B4289D-DD29-4AD6-988C-4F181810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43300"/>
            <a:ext cx="36576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9D0D83-50CC-4C6C-8E05-DDE59DC8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PARTIAL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20D5B4-9069-4710-A37D-C97BDD02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44"/>
                </a:solidFill>
              </a:defRPr>
            </a:pPr>
            <a:r>
              <a:rPr sz="1425" b="1">
                <a:solidFill>
                  <a:srgbClr val="0B1F44"/>
                </a:solidFill>
              </a:rPr>
              <a:t>Team pre-alert + human review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7A2E44-C637-4F68-968B-9BA4D537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05350"/>
            <a:ext cx="36576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ECEF"/>
          </a:solidFill>
          <a:ln xmlns:a="http://schemas.openxmlformats.org/drawingml/2006/main" w="9525">
            <a:solidFill>
              <a:srgbClr val="E93D5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64A7E6-7B1A-43E1-94AE-0CA6E4FC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3D54"/>
                </a:solidFill>
              </a:defRPr>
            </a:pPr>
            <a:r>
              <a:rPr sz="1200" b="1">
                <a:solidFill>
                  <a:srgbClr val="E93D54"/>
                </a:solidFill>
              </a:rPr>
              <a:t>REJECTED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632005-AD10-4FCD-9AAE-92DCF579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44"/>
                </a:solidFill>
              </a:defRPr>
            </a:pPr>
            <a:r>
              <a:rPr sz="1425" b="1">
                <a:solidFill>
                  <a:srgbClr val="0B1F44"/>
                </a:solidFill>
              </a:rPr>
              <a:t>Audit + reporter feedback</a:t>
            </a:r>
          </a:p>
        </p:txBody>
      </p:sp>
    </p:spTree>
    <p:extLst>
      <p:ext uri="{BB962C8B-B14F-4D97-AF65-F5344CB8AC3E}">
        <p14:creationId xmlns:p14="http://schemas.microsoft.com/office/powerpoint/2010/main" val="6603406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1AF1B9-86A6-4548-8E03-AEFF44D7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D"/>
                </a:solidFill>
              </a:defRPr>
            </a:pPr>
            <a:r>
              <a:rPr sz="1800" b="1">
                <a:solidFill>
                  <a:srgbClr val="071A3D"/>
                </a:solidFill>
              </a:rPr>
              <a:t>CIRO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36CC8-C89F-4867-B6C8-9E920699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00"/>
                </a:solidFill>
              </a:defRPr>
            </a:pPr>
            <a:r>
              <a:rPr sz="825" b="1">
                <a:solidFill>
                  <a:srgbClr val="FF6A00"/>
                </a:solidFill>
              </a:rPr>
              <a:t>ALIBABA CLOUD × BANO QABIL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DE2E5-F45E-4FA9-8D59-F0F7413D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1809A"/>
                </a:solidFill>
              </a:defRPr>
            </a:pPr>
            <a:r>
              <a:rPr sz="675" b="1">
                <a:solidFill>
                  <a:srgbClr val="71809A"/>
                </a:solidFill>
              </a:rPr>
              <a:t>CRISIS INTELLIGENCE &amp;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EB64C-5773-4D2F-893A-E63DE14D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A"/>
                </a:solidFill>
              </a:defRPr>
            </a:pPr>
            <a:r>
              <a:rPr sz="975" b="1">
                <a:solidFill>
                  <a:srgbClr val="71809A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DDA48-87CE-418F-B0B3-2D89B383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D917B-1CFC-4E82-87BD-2BA53648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44"/>
                </a:solidFill>
              </a:defRPr>
            </a:pPr>
            <a:r>
              <a:rPr sz="2925" b="1">
                <a:solidFill>
                  <a:srgbClr val="0B1F44"/>
                </a:solidFill>
              </a:rPr>
              <a:t>Verified incidents trigger targeted action automatically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DDC58-6FE8-4212-A6C9-776275BB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36F"/>
                </a:solidFill>
              </a:defRPr>
            </a:pPr>
            <a:r>
              <a:rPr sz="1425" b="0">
                <a:solidFill>
                  <a:srgbClr val="43536F"/>
                </a:solidFill>
              </a:rPr>
              <a:t>CIRO sends the right message to the right audience — without exposing unnecessary personal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99616-D9CD-4F30-80A8-E28F56E5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314325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D0A39-5AFD-4FF4-9A50-74E8FBF0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860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3D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D4945-A688-43CA-B3ED-217913CD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CF613-815E-40B8-80CF-4E434CC4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44"/>
                </a:solidFill>
              </a:defRPr>
            </a:pPr>
            <a:r>
              <a:rPr sz="1875" b="1">
                <a:solidFill>
                  <a:srgbClr val="0B1F44"/>
                </a:solidFill>
              </a:rPr>
              <a:t>Response teams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44349-F11F-4782-8243-FA60DE18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Dispatch request</a:t>
            </a:r>
          </a:p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Location + evidence</a:t>
            </a:r>
          </a:p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Suggested route and priority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8F0F0-D75D-4FC0-B447-854F8F94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47900"/>
            <a:ext cx="314325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EAFA8-B132-4DBC-8212-1A0E7ACB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860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05F99-553C-4B56-936C-AEF87F9C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050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CBF4D-5527-4C83-84ED-113AB0C5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670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44"/>
                </a:solidFill>
              </a:defRPr>
            </a:pPr>
            <a:r>
              <a:rPr sz="1875" b="1">
                <a:solidFill>
                  <a:srgbClr val="0B1F44"/>
                </a:solidFill>
              </a:rPr>
              <a:t>Affected citizens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F61EB-CDF0-4E95-8CEC-CB8566A3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09975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Geofenced safety alert</a:t>
            </a:r>
          </a:p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Area to avoid</a:t>
            </a:r>
          </a:p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Approved protective guidance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D6CE4-E572-4A5D-83FB-D8528572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47900"/>
            <a:ext cx="314325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23DF5-15D2-493C-ADC3-42248BC9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860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1E756-7453-4D59-9B87-720217BB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050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99290-1427-4CF3-AA46-2B7EB030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670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44"/>
                </a:solidFill>
              </a:defRPr>
            </a:pPr>
            <a:r>
              <a:rPr sz="1875" b="1">
                <a:solidFill>
                  <a:srgbClr val="0B1F44"/>
                </a:solidFill>
              </a:rPr>
              <a:t>Command center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BE7D1D-0E73-49C2-8551-340201BB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9975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Live incident state</a:t>
            </a:r>
          </a:p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Exceptions for review</a:t>
            </a:r>
          </a:p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Full decision audit trail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9862DB-93A7-4C90-9618-B641B74D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106108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CA4C2E-ECFD-4C48-96F7-5F8FAD71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34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5C7F2"/>
                </a:solidFill>
              </a:defRPr>
            </a:pPr>
            <a:r>
              <a:rPr sz="1575" b="1">
                <a:solidFill>
                  <a:srgbClr val="35C7F2"/>
                </a:solidFill>
              </a:rPr>
              <a:t>Dynamic impact zones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9E537F-2B49-4963-967C-04C9D161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505450"/>
            <a:ext cx="779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Road incidents follow routes • Flood alerts follow low-lying areas • Fire alerts account for spread risk</a:t>
            </a:r>
          </a:p>
        </p:txBody>
      </p:sp>
    </p:spTree>
    <p:extLst>
      <p:ext uri="{BB962C8B-B14F-4D97-AF65-F5344CB8AC3E}">
        <p14:creationId xmlns:p14="http://schemas.microsoft.com/office/powerpoint/2010/main" val="3932127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E21E6-781D-4280-BE67-19B10019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053B3-DB6C-4E8A-BFC8-41D7B794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8BF"/>
                </a:solidFill>
              </a:defRPr>
            </a:pPr>
            <a:r>
              <a:rPr sz="825" b="1">
                <a:solidFill>
                  <a:srgbClr val="FFD8BF"/>
                </a:solidFill>
              </a:rPr>
              <a:t>ALIBABA CLOUD × BANO QABIL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2A3A1-33DD-4847-9FBC-66DFF001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7D2FF"/>
                </a:solidFill>
              </a:defRPr>
            </a:pPr>
            <a:r>
              <a:rPr sz="675" b="1">
                <a:solidFill>
                  <a:srgbClr val="B7D2FF"/>
                </a:solidFill>
              </a:rPr>
              <a:t>CRISIS INTELLIGENCE &amp;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02226-DFFD-45E7-B89C-8A4AB051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C8FF"/>
                </a:solidFill>
              </a:defRPr>
            </a:pPr>
            <a:r>
              <a:rPr sz="975" b="1">
                <a:solidFill>
                  <a:srgbClr val="A9C8FF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D20A1-DB80-40FA-836B-09D675CE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49805-C5BD-45F2-AC10-182DF3D6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Satellites add wide-area awareness — not instant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6B710-ADD6-4E87-B049-69A159C4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DD3F5"/>
                </a:solidFill>
              </a:defRPr>
            </a:pPr>
            <a:r>
              <a:rPr sz="1425" b="0">
                <a:solidFill>
                  <a:srgbClr val="BDD3F5"/>
                </a:solidFill>
              </a:rPr>
              <a:t>CIRO combines Earth observation with ground reports to understand scale, spread and access.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7ce2d218c4726"/>
          <a:srcRect xmlns:a="http://schemas.openxmlformats.org/drawingml/2006/main" l="7915" t="0" r="79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924050"/>
            <a:ext cx="6438900" cy="4305300"/>
          </a:xfrm>
          <a:prstGeom xmlns:a="http://schemas.openxmlformats.org/drawingml/2006/main" prst="roundRect">
            <a:avLst>
              <a:gd name="adj" fmla="val 354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B5291-12B8-41F4-87B6-EE72B6DB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DDF3E-2A6D-4A50-9AB5-4F7BCCFC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9E0B3"/>
                </a:solidFill>
              </a:defRPr>
            </a:pPr>
            <a:r>
              <a:rPr sz="975" b="1">
                <a:solidFill>
                  <a:srgbClr val="79E0B3"/>
                </a:solidFill>
              </a:rPr>
              <a:t>STRONG 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E3660-A115-4B9E-9FF7-3E2DEC9F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Flood extent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Wildfire hotspots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Landslide risk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Infrastructure damage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44A61-981B-4471-A448-BD0A3E0A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1371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24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3CDD0-3DB6-4289-8B65-227AAD6F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98A6"/>
                </a:solidFill>
              </a:defRPr>
            </a:pPr>
            <a:r>
              <a:rPr sz="975" b="1">
                <a:solidFill>
                  <a:srgbClr val="FF98A6"/>
                </a:solidFill>
              </a:rPr>
              <a:t>GROUND-FIRST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55553-9DC9-47BD-9610-894C1E17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5E4FF"/>
                </a:solidFill>
              </a:defRPr>
            </a:pPr>
            <a:r>
              <a:rPr sz="1650" b="1">
                <a:solidFill>
                  <a:srgbClr val="D5E4FF"/>
                </a:solidFill>
              </a:rPr>
              <a:t>Road accidents</a:t>
            </a:r>
          </a:p>
          <a:p xmlns:a="http://schemas.openxmlformats.org/drawingml/2006/main">
            <a:pPr algn="l">
              <a:defRPr sz="1650" b="1">
                <a:solidFill>
                  <a:srgbClr val="D5E4FF"/>
                </a:solidFill>
              </a:defRPr>
            </a:pPr>
            <a:r>
              <a:rPr sz="1650" b="1">
                <a:solidFill>
                  <a:srgbClr val="D5E4FF"/>
                </a:solidFill>
              </a:rPr>
              <a:t>Medical emergencies</a:t>
            </a:r>
          </a:p>
          <a:p xmlns:a="http://schemas.openxmlformats.org/drawingml/2006/main">
            <a:pPr algn="l">
              <a:defRPr sz="1650" b="1">
                <a:solidFill>
                  <a:srgbClr val="D5E4FF"/>
                </a:solidFill>
              </a:defRPr>
            </a:pPr>
            <a:r>
              <a:rPr sz="1650" b="1">
                <a:solidFill>
                  <a:srgbClr val="D5E4FF"/>
                </a:solidFill>
              </a:rPr>
              <a:t>Street-level crime</a:t>
            </a:r>
          </a:p>
        </p:txBody>
      </p:sp>
    </p:spTree>
    <p:extLst>
      <p:ext uri="{BB962C8B-B14F-4D97-AF65-F5344CB8AC3E}">
        <p14:creationId xmlns:p14="http://schemas.microsoft.com/office/powerpoint/2010/main" val="14952340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1E1C88-8511-464B-A90F-288BB60E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D"/>
                </a:solidFill>
              </a:defRPr>
            </a:pPr>
            <a:r>
              <a:rPr sz="1800" b="1">
                <a:solidFill>
                  <a:srgbClr val="071A3D"/>
                </a:solidFill>
              </a:rPr>
              <a:t>CIRO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BFCB1-BDBA-4140-B5FD-4D5D8ECB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00"/>
                </a:solidFill>
              </a:defRPr>
            </a:pPr>
            <a:r>
              <a:rPr sz="825" b="1">
                <a:solidFill>
                  <a:srgbClr val="FF6A00"/>
                </a:solidFill>
              </a:rPr>
              <a:t>ALIBABA CLOUD × BANO QABIL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EC540-60CE-4ED8-B0E3-FD52E4C8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1809A"/>
                </a:solidFill>
              </a:defRPr>
            </a:pPr>
            <a:r>
              <a:rPr sz="675" b="1">
                <a:solidFill>
                  <a:srgbClr val="71809A"/>
                </a:solidFill>
              </a:rPr>
              <a:t>CRISIS INTELLIGENCE &amp;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33BDC-F56E-4D16-84C1-BBFA4D3C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A"/>
                </a:solidFill>
              </a:defRPr>
            </a:pPr>
            <a:r>
              <a:rPr sz="975" b="1">
                <a:solidFill>
                  <a:srgbClr val="71809A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A1E5A-BBBE-4D53-8D75-7C8C6AA3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F0FFD-DCC3-4BFC-A529-01F289BA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44"/>
                </a:solidFill>
              </a:defRPr>
            </a:pPr>
            <a:r>
              <a:rPr sz="2925" b="1">
                <a:solidFill>
                  <a:srgbClr val="0B1F44"/>
                </a:solidFill>
              </a:rPr>
              <a:t>Illustrative scenario: a market fire becomes coordinated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6D8C9-F94B-46D6-B483-B99978E5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36F"/>
                </a:solidFill>
              </a:defRPr>
            </a:pPr>
            <a:r>
              <a:rPr sz="1425" b="0">
                <a:solidFill>
                  <a:srgbClr val="43536F"/>
                </a:solidFill>
              </a:rPr>
              <a:t>The timeline shows the intended operating model, not a measured deployment result.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6A388-DC56-4431-98ED-9C5E71F5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62100"/>
            <a:ext cx="1352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5394D-EAE6-4819-82C3-564B42D2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0020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ILLUSTRATIVE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06186-C5B9-4591-9A70-85E3D93E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05150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BB423-4E6E-4083-9FDE-877F720E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384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287BF-A80C-4FD0-B493-256F9692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66CCE-B17D-484C-958D-868290FE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241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CE655-1D0F-4A2E-91D9-4C0779DE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5EEF"/>
                </a:solidFill>
              </a:defRPr>
            </a:pPr>
            <a:r>
              <a:rPr sz="2025" b="1">
                <a:solidFill>
                  <a:srgbClr val="155EEF"/>
                </a:solidFill>
              </a:rPr>
              <a:t>12:04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5DED7-3C87-4D88-B97D-23553A20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44"/>
                </a:solidFill>
              </a:defRPr>
            </a:pPr>
            <a:r>
              <a:rPr sz="1575" b="1">
                <a:solidFill>
                  <a:srgbClr val="0B1F44"/>
                </a:solidFill>
              </a:rPr>
              <a:t>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524B5-D4AF-4EE2-ADB8-46DE3C4B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9575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3536F"/>
                </a:solidFill>
              </a:defRPr>
            </a:pPr>
            <a:r>
              <a:rPr sz="1200" b="0">
                <a:solidFill>
                  <a:srgbClr val="43536F"/>
                </a:solidFill>
              </a:rPr>
              <a:t>Photo, voice and GPS submitted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3D0AD-7192-4DE2-A3B3-242FAC26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05150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F9733-617E-4729-A340-FA1E58A1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84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5B4E5-D65E-4B6E-8AFA-191E3AFC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38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294FD6-DC0D-44B1-AEA7-6B079C35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241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7CA915-21CD-480B-A6F8-98DE4417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098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5EEF"/>
                </a:solidFill>
              </a:defRPr>
            </a:pPr>
            <a:r>
              <a:rPr sz="2025" b="1">
                <a:solidFill>
                  <a:srgbClr val="155EEF"/>
                </a:solidFill>
              </a:rPr>
              <a:t>12:05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C49A9F-05CB-4344-A48C-D77A225F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195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44"/>
                </a:solidFill>
              </a:defRPr>
            </a:pPr>
            <a:r>
              <a:rPr sz="1575" b="1">
                <a:solidFill>
                  <a:srgbClr val="0B1F44"/>
                </a:solidFill>
              </a:rPr>
              <a:t>AI match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05A669-9413-4285-9B24-04D901EC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9575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3536F"/>
                </a:solidFill>
              </a:defRPr>
            </a:pPr>
            <a:r>
              <a:rPr sz="1200" b="0">
                <a:solidFill>
                  <a:srgbClr val="43536F"/>
                </a:solidFill>
              </a:rPr>
              <a:t>Duplicate reports clustered; fire risk scored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9571A2-DB88-41FF-8684-BA8BD715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05150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6E50AE-861C-4038-9F02-E1044D80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384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5017C-11D4-4629-80BE-AECDF0FF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38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5CA480-AB2C-4A14-BE10-4F95DFB2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241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49F204-2C39-4156-971B-AB1C6F49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098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5EEF"/>
                </a:solidFill>
              </a:defRPr>
            </a:pPr>
            <a:r>
              <a:rPr sz="2025" b="1">
                <a:solidFill>
                  <a:srgbClr val="155EEF"/>
                </a:solidFill>
              </a:rPr>
              <a:t>12:06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8A4948-EA48-44E7-8114-A0DC3997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195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44"/>
                </a:solidFill>
              </a:defRPr>
            </a:pPr>
            <a:r>
              <a:rPr sz="1575" b="1">
                <a:solidFill>
                  <a:srgbClr val="0B1F44"/>
                </a:solidFill>
              </a:rPr>
              <a:t>Human approval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9DB3F8-C61F-488F-95B4-CAD9F43B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9575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3536F"/>
                </a:solidFill>
              </a:defRPr>
            </a:pPr>
            <a:r>
              <a:rPr sz="1200" b="0">
                <a:solidFill>
                  <a:srgbClr val="43536F"/>
                </a:solidFill>
              </a:rPr>
              <a:t>Dispatcher confirms public alert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6249B5-DDB0-4AF3-869A-89BF11BE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2F9F72-213D-4749-AF05-05CBBBA2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384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4892DE-6F49-4F3D-85B8-75FB95BC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38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83414D-45C0-4FE5-B473-5A8484E3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241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173D59-D47B-41BE-AFCD-F5182E7E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5EEF"/>
                </a:solidFill>
              </a:defRPr>
            </a:pPr>
            <a:r>
              <a:rPr sz="2025" b="1">
                <a:solidFill>
                  <a:srgbClr val="155EEF"/>
                </a:solidFill>
              </a:rPr>
              <a:t>12:07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102EDD-FFEC-4BFC-9FC1-2AD03380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44"/>
                </a:solidFill>
              </a:defRPr>
            </a:pPr>
            <a:r>
              <a:rPr sz="1575" b="1">
                <a:solidFill>
                  <a:srgbClr val="0B1F44"/>
                </a:solidFill>
              </a:rPr>
              <a:t>Dispatch + alert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847716-3735-4EFD-90E0-E9740AF0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9575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3536F"/>
                </a:solidFill>
              </a:defRPr>
            </a:pPr>
            <a:r>
              <a:rPr sz="1200" b="0">
                <a:solidFill>
                  <a:srgbClr val="43536F"/>
                </a:solidFill>
              </a:rPr>
              <a:t>Nearest unit and impact zone notified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4D6F24-08B9-4CEC-A13C-35DDD96E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E5B09B-179E-4697-B722-36F2C38A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241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9ADE90-C015-4754-87FE-040FDC24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98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5EEF"/>
                </a:solidFill>
              </a:defRPr>
            </a:pPr>
            <a:r>
              <a:rPr sz="2025" b="1">
                <a:solidFill>
                  <a:srgbClr val="155EEF"/>
                </a:solidFill>
              </a:rPr>
              <a:t>12:13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4C205E-A1F4-4292-9D77-492899A4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195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44"/>
                </a:solidFill>
              </a:defRPr>
            </a:pPr>
            <a:r>
              <a:rPr sz="1575" b="1">
                <a:solidFill>
                  <a:srgbClr val="0B1F44"/>
                </a:solidFill>
              </a:rPr>
              <a:t>Team arrival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E9AFF8-D520-4A8C-A1CD-697E6251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3536F"/>
                </a:solidFill>
              </a:defRPr>
            </a:pPr>
            <a:r>
              <a:rPr sz="1200" b="0">
                <a:solidFill>
                  <a:srgbClr val="43536F"/>
                </a:solidFill>
              </a:rPr>
              <a:t>Responder updates live status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387561-FC55-41F6-B37B-42746D8F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10267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CD5604-9FEB-44BE-9819-0566C07F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809A"/>
                </a:solidFill>
              </a:defRPr>
            </a:pPr>
            <a:r>
              <a:rPr sz="1275" b="1">
                <a:solidFill>
                  <a:srgbClr val="71809A"/>
                </a:solidFill>
              </a:rPr>
              <a:t>Citizen message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6D1BE7-8C8E-4D47-A932-8D5AAFED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34025"/>
            <a:ext cx="824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44"/>
                </a:solidFill>
              </a:defRPr>
            </a:pPr>
            <a:r>
              <a:rPr sz="1575" b="1">
                <a:solidFill>
                  <a:srgbClr val="0B1F44"/>
                </a:solidFill>
              </a:rPr>
              <a:t>Verified fire alert: avoid Blue Area Market and keep access clear for emergency vehicles.</a:t>
            </a:r>
          </a:p>
        </p:txBody>
      </p:sp>
    </p:spTree>
    <p:extLst>
      <p:ext uri="{BB962C8B-B14F-4D97-AF65-F5344CB8AC3E}">
        <p14:creationId xmlns:p14="http://schemas.microsoft.com/office/powerpoint/2010/main" val="19742104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BB42BE-3DD5-4EB2-A90E-1EA37AF1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D"/>
                </a:solidFill>
              </a:defRPr>
            </a:pPr>
            <a:r>
              <a:rPr sz="1800" b="1">
                <a:solidFill>
                  <a:srgbClr val="071A3D"/>
                </a:solidFill>
              </a:rPr>
              <a:t>CIRO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1060C-1E2E-4881-A6C9-55D560F0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00"/>
                </a:solidFill>
              </a:defRPr>
            </a:pPr>
            <a:r>
              <a:rPr sz="825" b="1">
                <a:solidFill>
                  <a:srgbClr val="FF6A00"/>
                </a:solidFill>
              </a:rPr>
              <a:t>ALIBABA CLOUD × BANO QABIL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75A8C-5116-45D6-94BA-7943E33D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1809A"/>
                </a:solidFill>
              </a:defRPr>
            </a:pPr>
            <a:r>
              <a:rPr sz="675" b="1">
                <a:solidFill>
                  <a:srgbClr val="71809A"/>
                </a:solidFill>
              </a:rPr>
              <a:t>CRISIS INTELLIGENCE &amp;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F87CD-4359-475E-84C8-A3EAE9D3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A"/>
                </a:solidFill>
              </a:defRPr>
            </a:pPr>
            <a:r>
              <a:rPr sz="975" b="1">
                <a:solidFill>
                  <a:srgbClr val="71809A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52D78-4A2A-4E98-96E6-C3E85581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2CA55-84E8-4F08-AA54-EFBAE2AE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44"/>
                </a:solidFill>
              </a:defRPr>
            </a:pPr>
            <a:r>
              <a:rPr sz="2925" b="1">
                <a:solidFill>
                  <a:srgbClr val="0B1F44"/>
                </a:solidFill>
              </a:rPr>
              <a:t>Safety is a system property, not a disclaimer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04125-952A-4F98-B5D4-17DC06A0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36F"/>
                </a:solidFill>
              </a:defRPr>
            </a:pPr>
            <a:r>
              <a:rPr sz="1425" b="0">
                <a:solidFill>
                  <a:srgbClr val="43536F"/>
                </a:solidFill>
              </a:rPr>
              <a:t>CIRO limits automation with explicit policy, privacy and accountability controls.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4EF4E-A38B-4681-BB83-A3573BFC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97987-D96A-4A65-B3B3-A3C3A6A6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75732-34E8-480D-B5D4-DBF51218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4"/>
                </a:solidFill>
              </a:defRPr>
            </a:pPr>
            <a:r>
              <a:rPr sz="1650" b="1">
                <a:solidFill>
                  <a:srgbClr val="0B1F44"/>
                </a:solidFill>
              </a:rPr>
              <a:t>Human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1780D-B511-4683-9777-0133F31E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36F"/>
                </a:solidFill>
              </a:defRPr>
            </a:pPr>
            <a:r>
              <a:rPr sz="1275" b="0">
                <a:solidFill>
                  <a:srgbClr val="43536F"/>
                </a:solidFill>
              </a:rPr>
              <a:t>Dispatchers approve sensitive or uncertain cases.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DBC04-73A6-42F5-AA5E-D22FDA9A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F7077-769F-4E1E-9898-530B549A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81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9A3E9-2879-437E-8F46-8AC3B992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717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3DBEA-E4B6-4D12-9C5C-8BC42308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526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4"/>
                </a:solidFill>
              </a:defRPr>
            </a:pPr>
            <a:r>
              <a:rPr sz="1650" b="1">
                <a:solidFill>
                  <a:srgbClr val="0B1F44"/>
                </a:solidFill>
              </a:rPr>
              <a:t>Purpose-limited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EA20D-0E92-40A4-BB14-C5E6DB75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1460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36F"/>
                </a:solidFill>
              </a:defRPr>
            </a:pPr>
            <a:r>
              <a:rPr sz="1275" b="0">
                <a:solidFill>
                  <a:srgbClr val="43536F"/>
                </a:solidFill>
              </a:rPr>
              <a:t>Location and evidence are used only for the active safety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48F395-26BC-4EFD-842C-A76945F9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7B4A8-DC4A-4EF0-832B-089F4A94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350BD-FE7A-4C79-BD5B-2E9C6A29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DFC17-1A78-476D-B191-B15647E9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4"/>
                </a:solidFill>
              </a:defRPr>
            </a:pPr>
            <a:r>
              <a:rPr sz="1650" b="1">
                <a:solidFill>
                  <a:srgbClr val="0B1F44"/>
                </a:solidFill>
              </a:rPr>
              <a:t>Approved messages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990091-7762-435A-9FBD-C4677D3C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36F"/>
                </a:solidFill>
              </a:defRPr>
            </a:pPr>
            <a:r>
              <a:rPr sz="1275" b="0">
                <a:solidFill>
                  <a:srgbClr val="43536F"/>
                </a:solidFill>
              </a:rPr>
              <a:t>Public guidance comes from authority-reviewed templates.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90DA2-0E0E-44B9-AFEE-B374B4CF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F198DA-8730-4260-8935-5772C294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00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D1E900-B076-4A50-ADF9-4E61D50E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20D03-6D99-432F-9FE9-70CBCEF6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71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4"/>
                </a:solidFill>
              </a:defRPr>
            </a:pPr>
            <a:r>
              <a:rPr sz="1650" b="1">
                <a:solidFill>
                  <a:srgbClr val="0B1F44"/>
                </a:solidFill>
              </a:rPr>
              <a:t>Audit by default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3C0C7F-93E8-4C45-A022-CD96385F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3380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36F"/>
                </a:solidFill>
              </a:defRPr>
            </a:pPr>
            <a:r>
              <a:rPr sz="1275" b="0">
                <a:solidFill>
                  <a:srgbClr val="43536F"/>
                </a:solidFill>
              </a:rPr>
              <a:t>Every model output, override and notification is recorded.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893A65-92CE-4181-A221-E6BE01DC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815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0DC5E-DF10-466B-A818-B65E4083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48FA85-B1C0-4359-93AA-8982CB15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1C261F-FE6F-44C2-9D9D-0CF12AF5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4"/>
                </a:solidFill>
              </a:defRPr>
            </a:pPr>
            <a:r>
              <a:rPr sz="1650" b="1">
                <a:solidFill>
                  <a:srgbClr val="0B1F44"/>
                </a:solidFill>
              </a:rPr>
              <a:t>Fail-safe operation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F13F7E-C39F-4930-9424-64B3340B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36F"/>
                </a:solidFill>
              </a:defRPr>
            </a:pPr>
            <a:r>
              <a:rPr sz="1275" b="0">
                <a:solidFill>
                  <a:srgbClr val="43536F"/>
                </a:solidFill>
              </a:rPr>
              <a:t>Low confidence routes to review instead of automatic escalation.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1519D5-CFCD-494A-A153-BF5C4734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19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5F36D5-600C-4681-8AF9-A32592C2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101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D18892-EBF2-49BA-80B7-3975CC4A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910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4"/>
                </a:solidFill>
              </a:defRPr>
            </a:pPr>
            <a:r>
              <a:rPr sz="1650" b="1">
                <a:solidFill>
                  <a:srgbClr val="0B1F44"/>
                </a:solidFill>
              </a:rPr>
              <a:t>Role-based access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5FF05C-8A0F-4B33-9E25-25005F40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5300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36F"/>
                </a:solidFill>
              </a:defRPr>
            </a:pPr>
            <a:r>
              <a:rPr sz="1275" b="0">
                <a:solidFill>
                  <a:srgbClr val="43536F"/>
                </a:solidFill>
              </a:rPr>
              <a:t>Citizens, responders and command staff see only what they need.</a:t>
            </a:r>
          </a:p>
        </p:txBody>
      </p:sp>
    </p:spTree>
    <p:extLst>
      <p:ext uri="{BB962C8B-B14F-4D97-AF65-F5344CB8AC3E}">
        <p14:creationId xmlns:p14="http://schemas.microsoft.com/office/powerpoint/2010/main" val="21303118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C4D0FF-293D-435F-B34B-49F77B88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D"/>
                </a:solidFill>
              </a:defRPr>
            </a:pPr>
            <a:r>
              <a:rPr sz="1800" b="1">
                <a:solidFill>
                  <a:srgbClr val="071A3D"/>
                </a:solidFill>
              </a:rPr>
              <a:t>CIRO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466CA-AB57-47FB-B314-6368D48C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00"/>
                </a:solidFill>
              </a:defRPr>
            </a:pPr>
            <a:r>
              <a:rPr sz="825" b="1">
                <a:solidFill>
                  <a:srgbClr val="FF6A00"/>
                </a:solidFill>
              </a:rPr>
              <a:t>ALIBABA CLOUD × BANO QABIL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B64C1-006E-4995-AAE9-C39A5AC6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1809A"/>
                </a:solidFill>
              </a:defRPr>
            </a:pPr>
            <a:r>
              <a:rPr sz="675" b="1">
                <a:solidFill>
                  <a:srgbClr val="71809A"/>
                </a:solidFill>
              </a:rPr>
              <a:t>CRISIS INTELLIGENCE &amp;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50252-B16F-42F5-B3B6-35972D2A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A"/>
                </a:solidFill>
              </a:defRPr>
            </a:pPr>
            <a:r>
              <a:rPr sz="975" b="1">
                <a:solidFill>
                  <a:srgbClr val="71809A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63D26-E12E-40B0-B17B-66FBA715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71F75-04D4-4E90-86BC-AAE10F26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44"/>
                </a:solidFill>
              </a:defRPr>
            </a:pPr>
            <a:r>
              <a:rPr sz="2925" b="1">
                <a:solidFill>
                  <a:srgbClr val="0B1F44"/>
                </a:solidFill>
              </a:rPr>
              <a:t>Alibaba Cloud makes the response loop deployable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05063-FD8D-4F52-B624-226CBF2E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36F"/>
                </a:solidFill>
              </a:defRPr>
            </a:pPr>
            <a:r>
              <a:rPr sz="1425" b="0">
                <a:solidFill>
                  <a:srgbClr val="43536F"/>
                </a:solidFill>
              </a:rPr>
              <a:t>Serverless orchestration, managed AI, structured evidence and auditable events.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1624E-CEEB-4949-8CBA-A7A1DFC1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45312-3EEA-4BD5-9654-2D6E5B14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EF"/>
                </a:solidFill>
              </a:defRPr>
            </a:pPr>
            <a:r>
              <a:rPr sz="1125" b="1">
                <a:solidFill>
                  <a:srgbClr val="155EEF"/>
                </a:solidFill>
              </a:rPr>
              <a:t>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E74C1-0551-4886-9029-A4B364A3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44"/>
                </a:solidFill>
              </a:defRPr>
            </a:pPr>
            <a:r>
              <a:rPr sz="1500" b="1">
                <a:solidFill>
                  <a:srgbClr val="0B1F44"/>
                </a:solidFill>
              </a:rPr>
              <a:t>Citizen app • Responder web • Command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424B5-5585-4027-88CC-CE991A7C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860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B69A7-8ADF-4297-A6ED-8B34434F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19400"/>
            <a:ext cx="1905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F6CD3-B850-4884-B5A4-CEF269BC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990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6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E6E1B-9063-4E35-AA77-A96A17C6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INGEST + COMPUTE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332DD-5E61-4255-8080-0F513DFA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44"/>
                </a:solidFill>
              </a:defRPr>
            </a:pPr>
            <a:r>
              <a:rPr sz="1500" b="1">
                <a:solidFill>
                  <a:srgbClr val="0B1F44"/>
                </a:solidFill>
              </a:rPr>
              <a:t>API Gateway • Function Compute • EventBridge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5228F-F45A-45B9-904B-21D67705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6710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D7224-A984-4DA9-8A92-B9B2C450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1905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80AAB-74C8-4794-9BEF-59B51E42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990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7F8F0"/>
          </a:solidFill>
          <a:ln xmlns:a="http://schemas.openxmlformats.org/drawingml/2006/main" w="9525">
            <a:solidFill>
              <a:srgbClr val="13A6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13DD7D-9124-4EC3-BBB8-4DACA316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29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A66A"/>
                </a:solidFill>
              </a:defRPr>
            </a:pPr>
            <a:r>
              <a:rPr sz="1125" b="1">
                <a:solidFill>
                  <a:srgbClr val="13A66A"/>
                </a:solidFill>
              </a:rPr>
              <a:t>AI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61DD4-ABA3-496F-BF7B-6C3E4AF0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00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44"/>
                </a:solidFill>
              </a:defRPr>
            </a:pPr>
            <a:r>
              <a:rPr sz="1500" b="1">
                <a:solidFill>
                  <a:srgbClr val="0B1F44"/>
                </a:solidFill>
              </a:rPr>
              <a:t>Model Studio / Qwen • PAI vision models • Policy engine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3FDA86-BE11-4DDE-BEBE-A3A4828D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481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923075-9375-48A1-B90D-5333636D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81500"/>
            <a:ext cx="1905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0AEE5E-DF41-4291-B88C-3526F006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990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8FF"/>
          </a:solidFill>
          <a:ln xmlns:a="http://schemas.openxmlformats.org/drawingml/2006/main" w="9525">
            <a:solidFill>
              <a:srgbClr val="35C7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F7B59C-374D-47A1-A787-1F20F1B3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101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C7F2"/>
                </a:solidFill>
              </a:defRPr>
            </a:pPr>
            <a:r>
              <a:rPr sz="1125" b="1">
                <a:solidFill>
                  <a:srgbClr val="35C7F2"/>
                </a:solidFill>
              </a:rPr>
              <a:t>TRUSTED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3F7FA2-EB51-4AD3-89CA-6D0BEA9D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910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44"/>
                </a:solidFill>
              </a:defRPr>
            </a:pPr>
            <a:r>
              <a:rPr sz="1500" b="1">
                <a:solidFill>
                  <a:srgbClr val="0B1F44"/>
                </a:solidFill>
              </a:rPr>
              <a:t>ApsaraDB RDS metadata • OSS evidence and imagery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613B65-36F8-40F0-BB2D-5D19218D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2920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6ACB64-9754-40DE-9612-6E3F0FC4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62550"/>
            <a:ext cx="1905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7BE2F3-FB44-4407-953E-0CACBC5B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90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EE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B31147-39B3-4464-848B-BC4EA5CC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633ACD-F806-43B0-AD96-A5545A86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3721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44"/>
                </a:solidFill>
              </a:defRPr>
            </a:pPr>
            <a:r>
              <a:rPr sz="1500" b="1">
                <a:solidFill>
                  <a:srgbClr val="0B1F44"/>
                </a:solidFill>
              </a:rPr>
              <a:t>RAM + KMS access • Simple Log Service audit trail</a:t>
            </a:r>
          </a:p>
        </p:txBody>
      </p:sp>
    </p:spTree>
    <p:extLst>
      <p:ext uri="{BB962C8B-B14F-4D97-AF65-F5344CB8AC3E}">
        <p14:creationId xmlns:p14="http://schemas.microsoft.com/office/powerpoint/2010/main" val="3546762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5FD116-F75D-4243-9370-06379D55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95D9C-17DB-4E0F-9A29-A0272B75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8BF"/>
                </a:solidFill>
              </a:defRPr>
            </a:pPr>
            <a:r>
              <a:rPr sz="825" b="1">
                <a:solidFill>
                  <a:srgbClr val="FFD8BF"/>
                </a:solidFill>
              </a:rPr>
              <a:t>ALIBABA CLOUD × BANO QABIL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9DC79-B629-41F7-8946-8C8FBD2F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7D2FF"/>
                </a:solidFill>
              </a:defRPr>
            </a:pPr>
            <a:r>
              <a:rPr sz="675" b="1">
                <a:solidFill>
                  <a:srgbClr val="B7D2FF"/>
                </a:solidFill>
              </a:rPr>
              <a:t>CRISIS INTELLIGENCE &amp;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1A43C-923B-4C1E-A1EE-D22C95F8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C8FF"/>
                </a:solidFill>
              </a:defRPr>
            </a:pPr>
            <a:r>
              <a:rPr sz="975" b="1">
                <a:solidFill>
                  <a:srgbClr val="A9C8FF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1C20A-6952-4C21-81E7-A1D0E974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05E61-D676-40BC-A018-6BA54F41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CIRO converts hackathon AI into public-safety impact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E3329-7A05-4AB6-B54B-CE54E2C6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DD3F5"/>
                </a:solidFill>
              </a:defRPr>
            </a:pPr>
            <a:r>
              <a:rPr sz="1425" b="0">
                <a:solidFill>
                  <a:srgbClr val="BDD3F5"/>
                </a:solidFill>
              </a:rPr>
              <a:t>The prototype demonstrates a real Pakistan use case across AI, cloud and responsible automation.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2107C-88EC-4894-A334-B0CF4CF7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5C7F2"/>
                </a:solidFill>
              </a:defRPr>
            </a:pPr>
            <a:r>
              <a:rPr sz="2850" b="1">
                <a:solidFill>
                  <a:srgbClr val="35C7F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F200D-894F-49F1-8516-365104E0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2228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7CFA8-C026-4F4B-A0C2-0FC694DE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Qwen-powered triage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D96E0-BB70-4533-80DF-140F3E1A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2266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EE9"/>
                </a:solidFill>
              </a:defRPr>
            </a:pPr>
            <a:r>
              <a:rPr sz="1275" b="0">
                <a:solidFill>
                  <a:srgbClr val="B9CEE9"/>
                </a:solidFill>
              </a:rPr>
              <a:t>Urdu, English and Roman Urdu reports become concise, structured incident records.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77A18-D17A-41D2-8E0E-4C751415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860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A66A"/>
                </a:solidFill>
              </a:defRPr>
            </a:pPr>
            <a:r>
              <a:rPr sz="2850" b="1">
                <a:solidFill>
                  <a:srgbClr val="13A66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EDEAE-F7ED-4FDC-8712-928BF9D7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95600"/>
            <a:ext cx="2228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7398D-0A39-4D42-B315-127C18DE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Serverless 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DBD8F-0CB3-43DD-89EC-C66B0CD6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24300"/>
            <a:ext cx="2266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EE9"/>
                </a:solidFill>
              </a:defRPr>
            </a:pPr>
            <a:r>
              <a:rPr sz="1275" b="0">
                <a:solidFill>
                  <a:srgbClr val="B9CEE9"/>
                </a:solidFill>
              </a:rPr>
              <a:t>Function Compute and event routing support bursty incident traffic without idle servers.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B169A-A9C9-44FE-844D-5E40499A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78BFA"/>
                </a:solidFill>
              </a:defRPr>
            </a:pPr>
            <a:r>
              <a:rPr sz="2850" b="1">
                <a:solidFill>
                  <a:srgbClr val="A78BF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3CB49-21E6-40F4-B226-D854D558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2228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782C3-1F5C-4BC2-B0A9-3B9D33DC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Responsible automation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F55DD-FCD7-4C20-8026-313E93D5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266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EE9"/>
                </a:solidFill>
              </a:defRPr>
            </a:pPr>
            <a:r>
              <a:rPr sz="1275" b="0">
                <a:solidFill>
                  <a:srgbClr val="B9CEE9"/>
                </a:solidFill>
              </a:rPr>
              <a:t>Confidence gates, human approval and audit logs reduce unsafe autonomous action.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31FE9-7D10-4C77-BE62-98F79689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860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9E0B"/>
                </a:solidFill>
              </a:defRPr>
            </a:pPr>
            <a:r>
              <a:rPr sz="285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971AA-9BC6-4B01-8761-198D5574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95600"/>
            <a:ext cx="2228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BE160-9303-4EC7-AFC0-52FFD442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4325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Pakistan-first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CAA697-ED3D-4F74-9A6D-C10E2F36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24300"/>
            <a:ext cx="2266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EE9"/>
                </a:solidFill>
              </a:defRPr>
            </a:pPr>
            <a:r>
              <a:rPr sz="1275" b="0">
                <a:solidFill>
                  <a:srgbClr val="B9CEE9"/>
                </a:solidFill>
              </a:rPr>
              <a:t>Citizen, responder and command experiences reflect local workflows and geography.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6AD4F9-6A6E-46BB-9691-666C04FD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86400"/>
            <a:ext cx="10629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E3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9B689B-0603-4F37-98B1-502BD1B5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Demo outcome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0675E8-EB12-47A1-9FEE-CB26C6A2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4832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One verified incident produces a team dispatch, citizen warning and auditable decision trail.</a:t>
            </a:r>
          </a:p>
        </p:txBody>
      </p:sp>
    </p:spTree>
    <p:extLst>
      <p:ext uri="{BB962C8B-B14F-4D97-AF65-F5344CB8AC3E}">
        <p14:creationId xmlns:p14="http://schemas.microsoft.com/office/powerpoint/2010/main" val="10023589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FB0B44-A23A-4615-A819-AB5A4596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D"/>
                </a:solidFill>
              </a:defRPr>
            </a:pPr>
            <a:r>
              <a:rPr sz="1800" b="1">
                <a:solidFill>
                  <a:srgbClr val="071A3D"/>
                </a:solidFill>
              </a:rPr>
              <a:t>CIRO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1A82C-63F1-46E4-BABC-C5ED32E5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00"/>
                </a:solidFill>
              </a:defRPr>
            </a:pPr>
            <a:r>
              <a:rPr sz="825" b="1">
                <a:solidFill>
                  <a:srgbClr val="FF6A00"/>
                </a:solidFill>
              </a:rPr>
              <a:t>ALIBABA CLOUD × BANO QABIL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B14B8-BD93-4E3C-8B8A-7CCCA36A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1809A"/>
                </a:solidFill>
              </a:defRPr>
            </a:pPr>
            <a:r>
              <a:rPr sz="675" b="1">
                <a:solidFill>
                  <a:srgbClr val="71809A"/>
                </a:solidFill>
              </a:rPr>
              <a:t>CRISIS INTELLIGENCE &amp;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9BE10-5642-4428-B0E0-BF84D0E5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A"/>
                </a:solidFill>
              </a:defRPr>
            </a:pPr>
            <a:r>
              <a:rPr sz="975" b="1">
                <a:solidFill>
                  <a:srgbClr val="71809A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3BCBF-7D53-4401-83AA-01E93F31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17E31-3D61-43D4-B91D-241E41AE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44"/>
                </a:solidFill>
              </a:defRPr>
            </a:pPr>
            <a:r>
              <a:rPr sz="2925" b="1">
                <a:solidFill>
                  <a:srgbClr val="0B1F44"/>
                </a:solidFill>
              </a:rPr>
              <a:t>AI automates speed; policy controls what happens 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85288-DDE7-4FB1-B224-DFEED39A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36F"/>
                </a:solidFill>
              </a:defRPr>
            </a:pPr>
            <a:r>
              <a:rPr sz="1425" b="0">
                <a:solidFill>
                  <a:srgbClr val="43536F"/>
                </a:solidFill>
              </a:rPr>
              <a:t>The workflow separates evidence processing from authority and public communication.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B2241-8032-48A8-A79E-EF5DE2A8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67000"/>
            <a:ext cx="1276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17F1F-0DAC-451D-B9FE-42F2459E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003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40A05-FDB3-470A-A34C-40E1E775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67000"/>
            <a:ext cx="1276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981CE-2720-4AA3-953C-55766159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0032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3FCE7-3F43-4284-8C1E-7ADF43FB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7180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42C24-1E0D-41BA-A450-5C8D23AC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38550"/>
            <a:ext cx="18859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F2182-BC1B-4550-B5BB-377E4E02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385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BFA28-52BD-40F5-A4B4-C2CD91E4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8550"/>
            <a:ext cx="18859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832B5-2B4B-4B9F-A8D5-194119D2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85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3FE8B-476E-4019-BAF4-C572ADB2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943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62D9D-BE16-41BD-A644-90BE762B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44"/>
                </a:solidFill>
              </a:defRPr>
            </a:pPr>
            <a:r>
              <a:rPr sz="1275" b="1">
                <a:solidFill>
                  <a:srgbClr val="0B1F44"/>
                </a:solidFill>
              </a:rPr>
              <a:t>1  Citizen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7763C-B7FD-4F2F-A009-3D2E9BC6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62200"/>
            <a:ext cx="2000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7F8F0"/>
          </a:solidFill>
          <a:ln xmlns:a="http://schemas.openxmlformats.org/drawingml/2006/main" w="9525">
            <a:solidFill>
              <a:srgbClr val="13A6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59A456-EA06-4E3A-A3FF-CB4B1CAE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33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44"/>
                </a:solidFill>
              </a:defRPr>
            </a:pPr>
            <a:r>
              <a:rPr sz="1275" b="1">
                <a:solidFill>
                  <a:srgbClr val="0B1F44"/>
                </a:solidFill>
              </a:rPr>
              <a:t>2  Qwen + fusion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39BC5-FD66-4442-AB38-491E026A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62200"/>
            <a:ext cx="20764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F4E829-F6C7-4E12-A82B-0D5AEEE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336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44"/>
                </a:solidFill>
              </a:defRPr>
            </a:pPr>
            <a:r>
              <a:rPr sz="1275" b="1">
                <a:solidFill>
                  <a:srgbClr val="0B1F44"/>
                </a:solidFill>
              </a:rPr>
              <a:t>3  Confidence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11B85-D9D1-4CB1-B6E4-F374152E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7F8F0"/>
          </a:solidFill>
          <a:ln xmlns:a="http://schemas.openxmlformats.org/drawingml/2006/main" w="9525">
            <a:solidFill>
              <a:srgbClr val="13A6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A75568-7808-4AA9-9470-B2BEBAFF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A66A"/>
                </a:solidFill>
              </a:defRPr>
            </a:pPr>
            <a:r>
              <a:rPr sz="1275" b="1">
                <a:solidFill>
                  <a:srgbClr val="13A66A"/>
                </a:solidFill>
              </a:rPr>
              <a:t>Verified</a:t>
            </a:r>
          </a:p>
          <a:p xmlns:a="http://schemas.openxmlformats.org/drawingml/2006/main">
            <a:pPr algn="ctr">
              <a:defRPr sz="1275" b="1">
                <a:solidFill>
                  <a:srgbClr val="13A66A"/>
                </a:solidFill>
              </a:defRPr>
            </a:pPr>
            <a:r>
              <a:rPr sz="1275" b="1">
                <a:solidFill>
                  <a:srgbClr val="13A66A"/>
                </a:solidFill>
              </a:rPr>
              <a:t>≥ policy threshold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DE7A16-D809-4768-9E32-710A6317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005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873CE3-E3F0-4A0F-891B-66CBE9DF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Uncertain</a:t>
            </a:r>
          </a:p>
          <a:p xmlns:a="http://schemas.openxmlformats.org/drawingml/2006/main">
            <a:pPr algn="ctr"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human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597F51-6D2B-4561-B2FC-784DB7B9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00550"/>
            <a:ext cx="1638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ECEF"/>
          </a:solidFill>
          <a:ln xmlns:a="http://schemas.openxmlformats.org/drawingml/2006/main" w="9525">
            <a:solidFill>
              <a:srgbClr val="E93D5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A184B6-8012-4A7D-9EAC-79985F4B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720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93D54"/>
                </a:solidFill>
              </a:defRPr>
            </a:pPr>
            <a:r>
              <a:rPr sz="1275" b="1">
                <a:solidFill>
                  <a:srgbClr val="E93D54"/>
                </a:solidFill>
              </a:rPr>
              <a:t>Rejected</a:t>
            </a:r>
          </a:p>
          <a:p xmlns:a="http://schemas.openxmlformats.org/drawingml/2006/main">
            <a:pPr algn="ctr">
              <a:defRPr sz="1275" b="1">
                <a:solidFill>
                  <a:srgbClr val="E93D54"/>
                </a:solidFill>
              </a:defRPr>
            </a:pPr>
            <a:r>
              <a:rPr sz="1275" b="1">
                <a:solidFill>
                  <a:srgbClr val="E93D54"/>
                </a:solidFill>
              </a:rPr>
              <a:t>feedback + audit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E093C5-B7F0-4655-8BF4-98360E90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3536F"/>
                </a:solidFill>
              </a:defRPr>
            </a:pPr>
            <a:r>
              <a:rPr sz="1125" b="0">
                <a:solidFill>
                  <a:srgbClr val="43536F"/>
                </a:solidFill>
              </a:rPr>
              <a:t>Text • voice • photo • GPS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2D5847-61E6-46E7-A370-12709F5A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05150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3536F"/>
                </a:solidFill>
              </a:defRPr>
            </a:pPr>
            <a:r>
              <a:rPr sz="1125" b="0">
                <a:solidFill>
                  <a:srgbClr val="43536F"/>
                </a:solidFill>
              </a:rPr>
              <a:t>Classify • deduplicate • summarize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6B3C7B-9580-46E8-BFF9-2B3B636B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3536F"/>
                </a:solidFill>
              </a:defRPr>
            </a:pPr>
            <a:r>
              <a:rPr sz="1125" b="0">
                <a:solidFill>
                  <a:srgbClr val="43536F"/>
                </a:solidFill>
              </a:rPr>
              <a:t>Incident type + severity + location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B58BEC-261E-41EF-A8C5-7DCE772E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953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213250-7C49-40DD-A819-118231B5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C7F2"/>
                </a:solidFill>
              </a:defRPr>
            </a:pPr>
            <a:r>
              <a:rPr sz="1350" b="1">
                <a:solidFill>
                  <a:srgbClr val="35C7F2"/>
                </a:solidFill>
              </a:rPr>
              <a:t>Automated action after verification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84C5D4-3267-4087-986E-C52B707F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Dispatch team • Alert citizens • Update dashboard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D2B2D8-9504-4F87-9F9A-ECDC978B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54102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D87498-0FC6-489C-A0A4-38A5745A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44"/>
                </a:solidFill>
              </a:defRPr>
            </a:pPr>
            <a:r>
              <a:rPr sz="1275" b="1">
                <a:solidFill>
                  <a:srgbClr val="0B1F44"/>
                </a:solidFill>
              </a:rPr>
              <a:t>All model outputs, approvals, overrides and messages are logged.</a:t>
            </a:r>
          </a:p>
        </p:txBody>
      </p:sp>
    </p:spTree>
    <p:extLst>
      <p:ext uri="{BB962C8B-B14F-4D97-AF65-F5344CB8AC3E}">
        <p14:creationId xmlns:p14="http://schemas.microsoft.com/office/powerpoint/2010/main" val="981586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0AB851-BF2F-4877-937C-FB17A646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D"/>
                </a:solidFill>
              </a:defRPr>
            </a:pPr>
            <a:r>
              <a:rPr sz="1800" b="1">
                <a:solidFill>
                  <a:srgbClr val="071A3D"/>
                </a:solidFill>
              </a:rPr>
              <a:t>CIRO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87AF7-F9D7-47F2-B2A6-6C8FF1F2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00"/>
                </a:solidFill>
              </a:defRPr>
            </a:pPr>
            <a:r>
              <a:rPr sz="825" b="1">
                <a:solidFill>
                  <a:srgbClr val="FF6A00"/>
                </a:solidFill>
              </a:rPr>
              <a:t>ALIBABA CLOUD × BANO QABIL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2F0A9-F53A-43B6-A11A-13F2F700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1809A"/>
                </a:solidFill>
              </a:defRPr>
            </a:pPr>
            <a:r>
              <a:rPr sz="675" b="1">
                <a:solidFill>
                  <a:srgbClr val="71809A"/>
                </a:solidFill>
              </a:rPr>
              <a:t>CRISIS INTELLIGENCE &amp;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3B5BD-81B7-4E2C-BEEB-D9579499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A"/>
                </a:solidFill>
              </a:defRPr>
            </a:pPr>
            <a:r>
              <a:rPr sz="975" b="1">
                <a:solidFill>
                  <a:srgbClr val="71809A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DD0CF-01E0-4EE2-B34A-A28F6A66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74C7F-6EC5-4710-A6F9-A7BCABD7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44"/>
                </a:solidFill>
              </a:defRPr>
            </a:pPr>
            <a:r>
              <a:rPr sz="2925" b="1">
                <a:solidFill>
                  <a:srgbClr val="0B1F44"/>
                </a:solidFill>
              </a:rPr>
              <a:t>Satellite imagery becomes one evidence layer in CIRO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2CD18-4B05-4DE6-AFEF-F89D05C2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36F"/>
                </a:solidFill>
              </a:defRPr>
            </a:pPr>
            <a:r>
              <a:rPr sz="1425" b="0">
                <a:solidFill>
                  <a:srgbClr val="43536F"/>
                </a:solidFill>
              </a:rPr>
              <a:t>Wide-area hazards are mapped, fused with ground reports and reviewed before alerts.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2EF04-4E50-413A-8276-5823D417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81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E1637-3DFE-4D26-9CA0-495AE251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146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68015-AEB4-4FF0-984B-900271CD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81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55BB5-9BE8-44E8-9811-9804C60B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146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AECD7-26C3-4EF8-8AB2-A6E5D9EB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81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85C19-077F-417C-B9CA-050413E9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146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AF7EE-6AEA-4B7F-B79F-88C5BF8E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81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B877A-AC77-4945-9FB4-D8082B28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14675"/>
            <a:ext cx="1714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F24D0-DA1B-4C16-83DA-A97E4529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1695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D8BB65-2053-478C-ADB5-44350D58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955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5F0CE-7440-4A89-96AB-83DF57BE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65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A8F33B-A343-4ADE-B6BB-269B48BE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44"/>
                </a:solidFill>
              </a:defRPr>
            </a:pPr>
            <a:r>
              <a:rPr sz="1425" b="1">
                <a:solidFill>
                  <a:srgbClr val="0B1F44"/>
                </a:solidFill>
              </a:rPr>
              <a:t>Earth observation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E7F8AF-31A1-489D-AE02-B88CEDF0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3536F"/>
                </a:solidFill>
              </a:defRPr>
            </a:pPr>
            <a:r>
              <a:rPr sz="1050" b="0">
                <a:solidFill>
                  <a:srgbClr val="43536F"/>
                </a:solidFill>
              </a:rPr>
              <a:t>Flood • fire • damage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817962-7B5A-4D4B-8AF7-FCD8831C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52700"/>
            <a:ext cx="1695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6A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141835-693E-4275-8D76-4452E6A4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955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E3CE3-B781-43E6-9192-F0F90892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765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B5C97F-21E4-4B3F-A016-B6F53097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480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44"/>
                </a:solidFill>
              </a:defRPr>
            </a:pPr>
            <a:r>
              <a:rPr sz="1425" b="1">
                <a:solidFill>
                  <a:srgbClr val="0B1F44"/>
                </a:solidFill>
              </a:rPr>
              <a:t>OSS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0AE14D-60DC-4C63-A898-0E5DF92A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766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3536F"/>
                </a:solidFill>
              </a:defRPr>
            </a:pPr>
            <a:r>
              <a:rPr sz="1050" b="0">
                <a:solidFill>
                  <a:srgbClr val="43536F"/>
                </a:solidFill>
              </a:rPr>
              <a:t>Raster + metadata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4312DB-CD5D-4F06-9D9C-4D2125FE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52700"/>
            <a:ext cx="1695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F8F0"/>
          </a:solidFill>
          <a:ln xmlns:a="http://schemas.openxmlformats.org/drawingml/2006/main" w="9525">
            <a:solidFill>
              <a:srgbClr val="13A6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B12D9D-0D2B-42FE-89F8-5667C81E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6955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5244E4-AE5D-418D-8E4E-4C99CED1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765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A285C3-B00D-4213-AFC6-0C69CF9C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44"/>
                </a:solidFill>
              </a:defRPr>
            </a:pPr>
            <a:r>
              <a:rPr sz="1425" b="1">
                <a:solidFill>
                  <a:srgbClr val="0B1F44"/>
                </a:solidFill>
              </a:rPr>
              <a:t>PAI analysis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F93915-EDBD-44C2-99EA-83D3FC47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766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3536F"/>
                </a:solidFill>
              </a:defRPr>
            </a:pPr>
            <a:r>
              <a:rPr sz="1050" b="0">
                <a:solidFill>
                  <a:srgbClr val="43536F"/>
                </a:solidFill>
              </a:rPr>
              <a:t>Hazard mask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37AF79-7CC7-4F35-A2B8-D2D7F720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52700"/>
            <a:ext cx="1695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EE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D45BF9-487B-4093-B502-77C1D5CD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955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69C1AE-3FCC-499B-8A85-695193DA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765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399A72-F0DD-4AB0-B121-80245D67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480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44"/>
                </a:solidFill>
              </a:defRPr>
            </a:pPr>
            <a:r>
              <a:rPr sz="1425" b="1">
                <a:solidFill>
                  <a:srgbClr val="0B1F44"/>
                </a:solidFill>
              </a:rPr>
              <a:t>Incident fusion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BC14DB-56A3-4511-89CB-71411FB8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766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3536F"/>
                </a:solidFill>
              </a:defRPr>
            </a:pPr>
            <a:r>
              <a:rPr sz="1050" b="0">
                <a:solidFill>
                  <a:srgbClr val="43536F"/>
                </a:solidFill>
              </a:rPr>
              <a:t>Satellite + ground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88F097-2C29-4CA3-9B36-BBCCF99E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52700"/>
            <a:ext cx="1695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ECEF"/>
          </a:solidFill>
          <a:ln xmlns:a="http://schemas.openxmlformats.org/drawingml/2006/main" w="9525">
            <a:solidFill>
              <a:srgbClr val="E93D5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66921A-D219-4D6B-81CE-1E6B5BB3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6955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3D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31266B-374B-4AD7-94C2-FBB8AA90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765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D4A20C-9872-4217-9623-C72AE42E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480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44"/>
                </a:solidFill>
              </a:defRPr>
            </a:pPr>
            <a:r>
              <a:rPr sz="1425" b="1">
                <a:solidFill>
                  <a:srgbClr val="0B1F44"/>
                </a:solidFill>
              </a:rPr>
              <a:t>Verified action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DC76C4-7147-4A16-9EF9-B3586DC8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766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3536F"/>
                </a:solidFill>
              </a:defRPr>
            </a:pPr>
            <a:r>
              <a:rPr sz="1050" b="0">
                <a:solidFill>
                  <a:srgbClr val="43536F"/>
                </a:solidFill>
              </a:rPr>
              <a:t>Map • dispatch • alert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438E65-0E35-4541-AAA5-ACCD004A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11049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66B961-6AA8-4C7D-8758-49351A46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C7F2"/>
                </a:solidFill>
              </a:defRPr>
            </a:pPr>
            <a:r>
              <a:rPr sz="1275" b="1">
                <a:solidFill>
                  <a:srgbClr val="35C7F2"/>
                </a:solidFill>
              </a:rPr>
              <a:t>Best use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093A4B-E5B8-428D-81C7-A55C2FA1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7677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Flood extent, wildfire hotspots, landslide exposure and infrastructure damage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B63936-3BD3-436F-8BC1-AAF71B08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9F4"/>
                </a:solidFill>
              </a:defRPr>
            </a:pPr>
            <a:r>
              <a:rPr sz="1350" b="0">
                <a:solidFill>
                  <a:srgbClr val="C7D9F4"/>
                </a:solidFill>
              </a:rPr>
              <a:t>Ground reports still lead road accidents, medical emergencies and street-level incidents.</a:t>
            </a:r>
          </a:p>
        </p:txBody>
      </p:sp>
    </p:spTree>
    <p:extLst>
      <p:ext uri="{BB962C8B-B14F-4D97-AF65-F5344CB8AC3E}">
        <p14:creationId xmlns:p14="http://schemas.microsoft.com/office/powerpoint/2010/main" val="16691137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8CB0FB-B2A2-47B5-A576-058B7DFF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D"/>
                </a:solidFill>
              </a:defRPr>
            </a:pPr>
            <a:r>
              <a:rPr sz="1800" b="1">
                <a:solidFill>
                  <a:srgbClr val="071A3D"/>
                </a:solidFill>
              </a:rPr>
              <a:t>CIRO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FB8B5-743D-499C-8D85-777B0708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00"/>
                </a:solidFill>
              </a:defRPr>
            </a:pPr>
            <a:r>
              <a:rPr sz="825" b="1">
                <a:solidFill>
                  <a:srgbClr val="FF6A00"/>
                </a:solidFill>
              </a:rPr>
              <a:t>ALIBABA CLOUD × BANO QABIL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45D8F-F560-463D-8E23-2E8806C3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1809A"/>
                </a:solidFill>
              </a:defRPr>
            </a:pPr>
            <a:r>
              <a:rPr sz="675" b="1">
                <a:solidFill>
                  <a:srgbClr val="71809A"/>
                </a:solidFill>
              </a:rPr>
              <a:t>CRISIS INTELLIGENCE &amp;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81699-8FCD-44C8-94E8-BA2FC5C6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A"/>
                </a:solidFill>
              </a:defRPr>
            </a:pPr>
            <a:r>
              <a:rPr sz="975" b="1">
                <a:solidFill>
                  <a:srgbClr val="71809A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B9DF6-0E5C-4FA2-B482-8F05ADBA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F7FCA-B3B4-4E2D-BA3C-CED95E22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44"/>
                </a:solidFill>
              </a:defRPr>
            </a:pPr>
            <a:r>
              <a:rPr sz="2925" b="1">
                <a:solidFill>
                  <a:srgbClr val="0B1F44"/>
                </a:solidFill>
              </a:rPr>
              <a:t>One incident state coordinates every authorized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97706-81EF-46BC-89E0-EDD18C79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36F"/>
                </a:solidFill>
              </a:defRPr>
            </a:pPr>
            <a:r>
              <a:rPr sz="1425" b="0">
                <a:solidFill>
                  <a:srgbClr val="43536F"/>
                </a:solidFill>
              </a:rPr>
              <a:t>Each participant receives only the information required for safe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8275A-3AA2-482E-9853-25E00EC8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336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995A2-94B4-474B-BD41-1B3E27E9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48100"/>
            <a:ext cx="67437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8A294-F8E9-4B84-BDF7-8C2755F0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2286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EAA49-9BD5-42C3-BAEC-2B9C5438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05400"/>
            <a:ext cx="2286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27D28-8C31-4C82-85A8-710C78AC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62375"/>
            <a:ext cx="1905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E1C5A-0C98-4243-B179-EB0863CD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62375"/>
            <a:ext cx="1905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54EAD-54CC-4A54-9274-96E9E203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24050"/>
            <a:ext cx="1943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77025-066A-4304-A0AE-0175769C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955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44"/>
                </a:solidFill>
              </a:defRPr>
            </a:pPr>
            <a:r>
              <a:rPr sz="1275" b="1">
                <a:solidFill>
                  <a:srgbClr val="0B1F44"/>
                </a:solidFill>
              </a:rPr>
              <a:t>Citizen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575A4-7B5F-4CAB-A420-08584D98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943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7F8F0"/>
          </a:solidFill>
          <a:ln xmlns:a="http://schemas.openxmlformats.org/drawingml/2006/main" w="9525">
            <a:solidFill>
              <a:srgbClr val="13A6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D35D2-515B-49B8-9BDE-FA30E95C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44"/>
                </a:solidFill>
              </a:defRPr>
            </a:pPr>
            <a:r>
              <a:rPr sz="1275" b="1">
                <a:solidFill>
                  <a:srgbClr val="0B1F44"/>
                </a:solidFill>
              </a:rPr>
              <a:t>Responder team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7DC43-A6F4-4B4F-9D0A-A9C4C032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48000"/>
            <a:ext cx="243840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19050">
            <a:solidFill>
              <a:srgbClr val="35C7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5C702-CA9C-45C2-957D-17AC9A4D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528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CIRO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DC85AD-9E8F-4C6F-A619-40F3EE2E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481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FD8FF"/>
                </a:solidFill>
              </a:defRPr>
            </a:pPr>
            <a:r>
              <a:rPr sz="1275" b="1">
                <a:solidFill>
                  <a:srgbClr val="BFD8FF"/>
                </a:solidFill>
              </a:rPr>
              <a:t>Verified incident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CCB2A5-E0B6-43C4-9EC4-7E9529A7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1943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EE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64F490-8D0C-498D-9406-F606609C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147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44"/>
                </a:solidFill>
              </a:defRPr>
            </a:pPr>
            <a:r>
              <a:rPr sz="1275" b="1">
                <a:solidFill>
                  <a:srgbClr val="0B1F44"/>
                </a:solidFill>
              </a:rPr>
              <a:t>Command center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E77FD9-CFC0-4DA0-BD8C-F8C97E21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81600"/>
            <a:ext cx="1943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20B2EE-CF32-4F0C-BA41-B1A55E2A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530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44"/>
                </a:solidFill>
              </a:defRPr>
            </a:pPr>
            <a:r>
              <a:rPr sz="1275" b="1">
                <a:solidFill>
                  <a:srgbClr val="0B1F44"/>
                </a:solidFill>
              </a:rPr>
              <a:t>Affected community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3540CB-27F1-48D1-A070-074EC199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479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3536F"/>
                </a:solidFill>
              </a:defRPr>
            </a:pPr>
            <a:r>
              <a:rPr sz="1125" b="1">
                <a:solidFill>
                  <a:srgbClr val="43536F"/>
                </a:solidFill>
              </a:rPr>
              <a:t>Report + status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091F57-A767-4036-AC04-265D72CB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480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3536F"/>
                </a:solidFill>
              </a:defRPr>
            </a:pPr>
            <a:r>
              <a:rPr sz="1125" b="1">
                <a:solidFill>
                  <a:srgbClr val="43536F"/>
                </a:solidFill>
              </a:rPr>
              <a:t>Dispatch + updates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59310D-53A5-46B9-A8C9-4B240B22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480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3536F"/>
                </a:solidFill>
              </a:defRPr>
            </a:pPr>
            <a:r>
              <a:rPr sz="1125" b="1">
                <a:solidFill>
                  <a:srgbClr val="43536F"/>
                </a:solidFill>
              </a:rPr>
              <a:t>Approve + coordinate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8B771-CBB1-491D-AC9D-F942E823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19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3536F"/>
                </a:solidFill>
              </a:defRPr>
            </a:pPr>
            <a:r>
              <a:rPr sz="1125" b="1">
                <a:solidFill>
                  <a:srgbClr val="43536F"/>
                </a:solidFill>
              </a:rPr>
              <a:t>Alert + guidance</a:t>
            </a:r>
          </a:p>
        </p:txBody>
      </p:sp>
    </p:spTree>
    <p:extLst>
      <p:ext uri="{BB962C8B-B14F-4D97-AF65-F5344CB8AC3E}">
        <p14:creationId xmlns:p14="http://schemas.microsoft.com/office/powerpoint/2010/main" val="18405212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6AD089-6340-4793-9BBF-DAA62D6F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D"/>
                </a:solidFill>
              </a:defRPr>
            </a:pPr>
            <a:r>
              <a:rPr sz="1800" b="1">
                <a:solidFill>
                  <a:srgbClr val="071A3D"/>
                </a:solidFill>
              </a:rPr>
              <a:t>CIRO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47AA8-655E-4F7F-BB53-162E5396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00"/>
                </a:solidFill>
              </a:defRPr>
            </a:pPr>
            <a:r>
              <a:rPr sz="825" b="1">
                <a:solidFill>
                  <a:srgbClr val="FF6A00"/>
                </a:solidFill>
              </a:rPr>
              <a:t>ALIBABA CLOUD × BANO QABIL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C91E9-D3CD-4871-89B6-AC90F85D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1809A"/>
                </a:solidFill>
              </a:defRPr>
            </a:pPr>
            <a:r>
              <a:rPr sz="675" b="1">
                <a:solidFill>
                  <a:srgbClr val="71809A"/>
                </a:solidFill>
              </a:rPr>
              <a:t>CRISIS INTELLIGENCE &amp;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47E20-1F36-47E0-8DF3-8DACDDB4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A"/>
                </a:solidFill>
              </a:defRPr>
            </a:pPr>
            <a:r>
              <a:rPr sz="975" b="1">
                <a:solidFill>
                  <a:srgbClr val="71809A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963CD-1467-468E-8C17-FC93B9EB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7DFBD-B3C3-4A48-B1D4-163168F6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44"/>
                </a:solidFill>
              </a:defRPr>
            </a:pPr>
            <a:r>
              <a:rPr sz="2925" b="1">
                <a:solidFill>
                  <a:srgbClr val="0B1F44"/>
                </a:solidFill>
              </a:rPr>
              <a:t>A 90-day Sialkot pilot can validate the workflow safely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841F2-BB8B-4C91-ABE7-E21696F2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36F"/>
                </a:solidFill>
              </a:defRPr>
            </a:pPr>
            <a:r>
              <a:rPr sz="1425" b="0">
                <a:solidFill>
                  <a:srgbClr val="43536F"/>
                </a:solidFill>
              </a:rPr>
              <a:t>Start controlled, measure every decision, then expand incident types and integrations.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8305B-74E7-4F8B-9175-443181CE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F6EA9-5E91-4D3C-98A5-4B250BC2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3CBEC-369A-4F0C-8884-6049F479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DAYS 0–30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FBAFF-9773-4296-8149-D7C3232B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44"/>
                </a:solidFill>
              </a:defRPr>
            </a:pPr>
            <a:r>
              <a:rPr sz="2175" b="1">
                <a:solidFill>
                  <a:srgbClr val="0B1F44"/>
                </a:solidFill>
              </a:rPr>
              <a:t>Connect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09C56-270F-4307-9378-A590B32E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Configure incident types, responder groups, consent and alert templates.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49AF6-1175-48DF-90F0-BDF0B9B7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4790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415EA-E031-4C3E-A082-B8B927BA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765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F00E0-E142-475A-B8E0-EC36E4FC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DAYS 31–60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6BDF0-0F3C-422C-A278-F0828D3C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908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44"/>
                </a:solidFill>
              </a:defRPr>
            </a:pPr>
            <a:r>
              <a:rPr sz="2175" b="1">
                <a:solidFill>
                  <a:srgbClr val="0B1F44"/>
                </a:solidFill>
              </a:rPr>
              <a:t>Operate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B8D17-4AAB-496F-8DE5-02C53EED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4330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Run controlled reports with dispatcher approval and limited geofences.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A617A-DBB0-47DA-B84C-552D6541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DAD61D-9861-4B70-81C7-33D75B8C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765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8EEECD-7D16-45E2-8E2F-9EC677AB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146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DAYS 61–90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0CCCD9-E596-4854-803E-94FEE3FF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44"/>
                </a:solidFill>
              </a:defRPr>
            </a:pPr>
            <a:r>
              <a:rPr sz="2175" b="1">
                <a:solidFill>
                  <a:srgbClr val="0B1F44"/>
                </a:solidFill>
              </a:rPr>
              <a:t>Evaluate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A17740-6807-47B5-8E2E-B8316C5E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Review accuracy, timing, false alerts, user trust and integration needs.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2D9D27-514C-4600-8DFD-5D727FDA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</a:defRPr>
            </a:pPr>
            <a:r>
              <a:rPr sz="1500" b="1">
                <a:solidFill>
                  <a:srgbClr val="155EEF"/>
                </a:solidFill>
              </a:rPr>
              <a:t>Pilot participants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6C50C-2C27-4263-B098-F4FB8446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2343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7E8DEF-6467-4ED1-9FA4-E459EEBB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44"/>
                </a:solidFill>
              </a:defRPr>
            </a:pPr>
            <a:r>
              <a:rPr sz="975" b="1">
                <a:solidFill>
                  <a:srgbClr val="0B1F44"/>
                </a:solidFill>
              </a:rPr>
              <a:t>Citizen testers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479E84-4C4F-4E03-A5E4-12DFCF94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524500"/>
            <a:ext cx="2343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65876B-68FD-4837-9A16-5B05A32D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562600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44"/>
                </a:solidFill>
              </a:defRPr>
            </a:pPr>
            <a:r>
              <a:rPr sz="975" b="1">
                <a:solidFill>
                  <a:srgbClr val="0B1F44"/>
                </a:solidFill>
              </a:rPr>
              <a:t>Dispatcher team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2F0CEA-317A-49C5-A9BB-09E3DC81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524500"/>
            <a:ext cx="2343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28ED72-CC22-487F-B51F-FF7EB2DE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562600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44"/>
                </a:solidFill>
              </a:defRPr>
            </a:pPr>
            <a:r>
              <a:rPr sz="975" b="1">
                <a:solidFill>
                  <a:srgbClr val="0B1F44"/>
                </a:solidFill>
              </a:rPr>
              <a:t>Response units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7E5FDD-DFF0-4915-98EE-53BEE6B1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24500"/>
            <a:ext cx="2343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EF38CE-7887-4C02-B45D-E076D69E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62600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44"/>
                </a:solidFill>
              </a:defRPr>
            </a:pPr>
            <a:r>
              <a:rPr sz="975" b="1">
                <a:solidFill>
                  <a:srgbClr val="0B1F44"/>
                </a:solidFill>
              </a:rPr>
              <a:t>Hospital / civic partner</a:t>
            </a:r>
          </a:p>
        </p:txBody>
      </p:sp>
    </p:spTree>
    <p:extLst>
      <p:ext uri="{BB962C8B-B14F-4D97-AF65-F5344CB8AC3E}">
        <p14:creationId xmlns:p14="http://schemas.microsoft.com/office/powerpoint/2010/main" val="17129934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EFD318-6416-4B2C-B44F-AA05793C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D"/>
                </a:solidFill>
              </a:defRPr>
            </a:pPr>
            <a:r>
              <a:rPr sz="1800" b="1">
                <a:solidFill>
                  <a:srgbClr val="071A3D"/>
                </a:solidFill>
              </a:rPr>
              <a:t>CIRO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55EC1-D8F7-420D-B441-2F353CD1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00"/>
                </a:solidFill>
              </a:defRPr>
            </a:pPr>
            <a:r>
              <a:rPr sz="825" b="1">
                <a:solidFill>
                  <a:srgbClr val="FF6A00"/>
                </a:solidFill>
              </a:rPr>
              <a:t>ALIBABA CLOUD × BANO QABIL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C725E-1729-416F-B280-9EB7D7FF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1809A"/>
                </a:solidFill>
              </a:defRPr>
            </a:pPr>
            <a:r>
              <a:rPr sz="675" b="1">
                <a:solidFill>
                  <a:srgbClr val="71809A"/>
                </a:solidFill>
              </a:rPr>
              <a:t>CRISIS INTELLIGENCE &amp;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3C4EE-E2F2-425B-A32D-8655851D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A"/>
                </a:solidFill>
              </a:defRPr>
            </a:pPr>
            <a:r>
              <a:rPr sz="975" b="1">
                <a:solidFill>
                  <a:srgbClr val="71809A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5900E-7410-482F-A4B5-377FC775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09778-6F54-4B2E-A14B-3CAF33FA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44"/>
                </a:solidFill>
              </a:defRPr>
            </a:pPr>
            <a:r>
              <a:rPr sz="2925" b="1">
                <a:solidFill>
                  <a:srgbClr val="0B1F44"/>
                </a:solidFill>
              </a:rPr>
              <a:t>The pilot is judged by trust and response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B5F17-0779-4DA0-9ADF-C9CDEA11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36F"/>
                </a:solidFill>
              </a:defRPr>
            </a:pPr>
            <a:r>
              <a:rPr sz="1425" b="0">
                <a:solidFill>
                  <a:srgbClr val="43536F"/>
                </a:solidFill>
              </a:rPr>
              <a:t>Targets below are proposed validation goals — not claimed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1E137-1C41-4286-AD8D-B5B3D746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33337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94E17-5346-4150-A97B-F52A999B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5EEF"/>
                </a:solidFill>
              </a:defRPr>
            </a:pPr>
            <a:r>
              <a:rPr sz="2925" b="1">
                <a:solidFill>
                  <a:srgbClr val="155EEF"/>
                </a:solidFill>
              </a:rPr>
              <a:t>≤ 60 sec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2354A-93F3-4771-AFF9-21653C4B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4"/>
                </a:solidFill>
              </a:defRPr>
            </a:pPr>
            <a:r>
              <a:rPr sz="1350" b="1">
                <a:solidFill>
                  <a:srgbClr val="0B1F44"/>
                </a:solidFill>
              </a:rPr>
              <a:t>Initial acknowledgement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A5ED4-DD34-4B42-8DEB-4D96B979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90750"/>
            <a:ext cx="33337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50C82-BE52-4A46-9361-D95A0B02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19350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3A66A"/>
                </a:solidFill>
              </a:defRPr>
            </a:pPr>
            <a:r>
              <a:rPr sz="2925" b="1">
                <a:solidFill>
                  <a:srgbClr val="13A66A"/>
                </a:solidFill>
              </a:rPr>
              <a:t>≤ 2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0751A-E8AD-4BBE-BD35-A8D6A82E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4"/>
                </a:solidFill>
              </a:defRPr>
            </a:pPr>
            <a:r>
              <a:rPr sz="1350" b="1">
                <a:solidFill>
                  <a:srgbClr val="0B1F44"/>
                </a:solidFill>
              </a:rPr>
              <a:t>Verified triage for eligible cases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29D02-E9F7-4745-BA02-BE1D8926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90750"/>
            <a:ext cx="33337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BB45A-FBAA-4B91-8959-C6DC76CE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7C3AED"/>
                </a:solidFill>
              </a:defRPr>
            </a:pPr>
            <a:r>
              <a:rPr sz="2925" b="1">
                <a:solidFill>
                  <a:srgbClr val="7C3AED"/>
                </a:solidFill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C1E27-3134-4740-B0CF-A19E3F18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4"/>
                </a:solidFill>
              </a:defRPr>
            </a:pPr>
            <a:r>
              <a:rPr sz="1350" b="1">
                <a:solidFill>
                  <a:srgbClr val="0B1F44"/>
                </a:solidFill>
              </a:rPr>
              <a:t>AI decisions and overrides logged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053AC5-6886-4BC8-9931-1923B171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4"/>
                </a:solidFill>
              </a:defRPr>
            </a:pPr>
            <a:r>
              <a:rPr sz="1650" b="1">
                <a:solidFill>
                  <a:srgbClr val="0B1F44"/>
                </a:solidFill>
              </a:rPr>
              <a:t>Operational scorecard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CF043-5E61-4BFA-968F-1CBA6412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0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9D418-F3A5-404A-A132-8E040B1E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536F"/>
                </a:solidFill>
              </a:defRPr>
            </a:pPr>
            <a:r>
              <a:rPr sz="1350" b="1">
                <a:solidFill>
                  <a:srgbClr val="43536F"/>
                </a:solidFill>
              </a:rPr>
              <a:t>Verification precision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E8F97-4FBE-48C5-9F86-4AF94709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810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99CBC6-119F-4D59-BB6E-5B1FFE32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62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536F"/>
                </a:solidFill>
              </a:defRPr>
            </a:pPr>
            <a:r>
              <a:rPr sz="1350" b="1">
                <a:solidFill>
                  <a:srgbClr val="43536F"/>
                </a:solidFill>
              </a:rPr>
              <a:t>False-alert 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7279F-70F0-47FE-9624-AACE1262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810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47588-1656-474C-83A7-FBA794A9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Dispatch acceptance 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1B4AEA-F5F0-490E-B143-EC1D1FB6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0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205BFE-036F-4E05-97EE-7B792AC6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Notification delivery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CC2723-9A2B-4743-9383-F2A2DFA2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40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B2BEFB-F17A-4D28-B060-962D455D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53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Citizen trust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55E9E4-B369-4D49-AEB0-7B800CB5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40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3D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4FB4CB-94C9-446B-A2A6-DDD74B1C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53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Privacy incidents</a:t>
            </a:r>
          </a:p>
        </p:txBody>
      </p:sp>
    </p:spTree>
    <p:extLst>
      <p:ext uri="{BB962C8B-B14F-4D97-AF65-F5344CB8AC3E}">
        <p14:creationId xmlns:p14="http://schemas.microsoft.com/office/powerpoint/2010/main" val="7183389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2A84E1-03D0-4351-AE60-4E781550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D"/>
                </a:solidFill>
              </a:defRPr>
            </a:pPr>
            <a:r>
              <a:rPr sz="1800" b="1">
                <a:solidFill>
                  <a:srgbClr val="071A3D"/>
                </a:solidFill>
              </a:rPr>
              <a:t>CIRO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7D2D8-483A-4531-A906-84D95141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00"/>
                </a:solidFill>
              </a:defRPr>
            </a:pPr>
            <a:r>
              <a:rPr sz="825" b="1">
                <a:solidFill>
                  <a:srgbClr val="FF6A00"/>
                </a:solidFill>
              </a:rPr>
              <a:t>ALIBABA CLOUD × BANO QABIL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5F280-0F87-42E8-92BA-4322FE31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1809A"/>
                </a:solidFill>
              </a:defRPr>
            </a:pPr>
            <a:r>
              <a:rPr sz="675" b="1">
                <a:solidFill>
                  <a:srgbClr val="71809A"/>
                </a:solidFill>
              </a:rPr>
              <a:t>CRISIS INTELLIGENCE &amp;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5DAEB-49FF-45DB-AAE9-DB7EC675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A"/>
                </a:solidFill>
              </a:defRPr>
            </a:pPr>
            <a:r>
              <a:rPr sz="975" b="1">
                <a:solidFill>
                  <a:srgbClr val="71809A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00E0B-9FAD-4BE5-833D-48667097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6F0E7-6832-45F4-8825-6B246FA3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44"/>
                </a:solidFill>
              </a:defRPr>
            </a:pPr>
            <a:r>
              <a:rPr sz="2925" b="1">
                <a:solidFill>
                  <a:srgbClr val="0B1F44"/>
                </a:solidFill>
              </a:rPr>
              <a:t>Adoption starts where coordination pain is highest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8A10A-EC3A-47D9-B4D4-59A0741D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36F"/>
                </a:solidFill>
              </a:defRPr>
            </a:pPr>
            <a:r>
              <a:rPr sz="1425" b="0">
                <a:solidFill>
                  <a:srgbClr val="43536F"/>
                </a:solidFill>
              </a:rPr>
              <a:t>CIRO can enter through controlled institutional deployments, then expand through integrations.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77308-967C-4713-ADEB-C0581958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93D54"/>
                </a:solidFill>
              </a:defRPr>
            </a:pPr>
            <a:r>
              <a:rPr sz="2400" b="1">
                <a:solidFill>
                  <a:srgbClr val="E93D54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1A3AB-CECB-405F-86D5-71746CC8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098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4"/>
                </a:solidFill>
              </a:defRPr>
            </a:pPr>
            <a:r>
              <a:rPr sz="1800" b="1">
                <a:solidFill>
                  <a:srgbClr val="0B1F44"/>
                </a:solidFill>
              </a:rPr>
              <a:t>Public response networks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3FFAE-B684-4006-8291-8B12D60E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19325"/>
            <a:ext cx="3638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City and provincial emergency coordination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B9D9D-12DE-4DFC-922B-533E9FB0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47900"/>
            <a:ext cx="2343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1C5E5-34C8-4C30-9D80-E46D7C5E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93D54"/>
                </a:solidFill>
              </a:defRPr>
            </a:pPr>
            <a:r>
              <a:rPr sz="975" b="1">
                <a:solidFill>
                  <a:srgbClr val="E93D54"/>
                </a:solidFill>
              </a:rPr>
              <a:t>Platform license + integrations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7AC3F-546E-41E9-8051-29612742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640FD-5397-4281-95C2-3FC29981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5EEF"/>
                </a:solidFill>
              </a:defRPr>
            </a:pPr>
            <a:r>
              <a:rPr sz="2400" b="1">
                <a:solidFill>
                  <a:srgbClr val="155EE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2766D-FB88-4F75-930F-E7AADD8F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671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4"/>
                </a:solidFill>
              </a:defRPr>
            </a:pPr>
            <a:r>
              <a:rPr sz="1800" b="1">
                <a:solidFill>
                  <a:srgbClr val="0B1F44"/>
                </a:solidFill>
              </a:rPr>
              <a:t>Hospitals &amp; ambulance operators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DDDC0-818F-4128-BE6A-0171A312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76625"/>
            <a:ext cx="3638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Dispatch visibility and evidence handoff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2EC92-530F-46CB-9FFE-555D2183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05200"/>
            <a:ext cx="2343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5B8B8-0EA9-439A-9F9D-1877894E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43300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Managed deployment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5CC7B1-8F8F-4CFC-8C22-C85D9FAB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26C76F-44EE-48E4-88F2-4DE7F863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A66A"/>
                </a:solidFill>
              </a:defRPr>
            </a:pPr>
            <a:r>
              <a:rPr sz="2400" b="1">
                <a:solidFill>
                  <a:srgbClr val="13A66A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0DACF3-A69A-46FA-B202-B696B0C0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24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4"/>
                </a:solidFill>
              </a:defRPr>
            </a:pPr>
            <a:r>
              <a:rPr sz="1800" b="1">
                <a:solidFill>
                  <a:srgbClr val="0B1F44"/>
                </a:solidFill>
              </a:rPr>
              <a:t>Campuses &amp; industrial zones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C6A727-A628-4907-A1E8-2C28324F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33925"/>
            <a:ext cx="3638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36F"/>
                </a:solidFill>
              </a:defRPr>
            </a:pPr>
            <a:r>
              <a:rPr sz="1350" b="0">
                <a:solidFill>
                  <a:srgbClr val="43536F"/>
                </a:solidFill>
              </a:rPr>
              <a:t>Closed-area safety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F8266-6BE2-4C28-9953-859E9858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343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8E5622-8AC5-4837-8B01-69D059D9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00600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Site subscription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DF0C92-B211-4FCF-9AAF-A9D4D3E9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435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8398CC-2087-4532-874A-496B63CB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6108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8B32C4-2F05-460B-9223-8E0A65B8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C7F2"/>
                </a:solidFill>
              </a:defRPr>
            </a:pPr>
            <a:r>
              <a:rPr sz="1125" b="1">
                <a:solidFill>
                  <a:srgbClr val="35C7F2"/>
                </a:solidFill>
              </a:rPr>
              <a:t>Commercial principle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DED959-04AB-4EAC-BB63-BDE5543B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0864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Institutional coordination revenue; simple citizen emergency access.</a:t>
            </a:r>
          </a:p>
        </p:txBody>
      </p:sp>
    </p:spTree>
    <p:extLst>
      <p:ext uri="{BB962C8B-B14F-4D97-AF65-F5344CB8AC3E}">
        <p14:creationId xmlns:p14="http://schemas.microsoft.com/office/powerpoint/2010/main" val="17596879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15463139f46e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FF51E-6758-41EA-84F0-079605E2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714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61B"/>
          </a:solidFill>
          <a:ln xmlns:a="http://schemas.openxmlformats.org/drawingml/2006/main" w="9525">
            <a:solidFill>
              <a:srgbClr val="FF6A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7E5D2-E4E7-4A47-9DDA-717F4480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448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8BF"/>
                </a:solidFill>
              </a:defRPr>
            </a:pPr>
            <a:r>
              <a:rPr sz="900" b="1">
                <a:solidFill>
                  <a:srgbClr val="FFD8BF"/>
                </a:solidFill>
              </a:rPr>
              <a:t>ALIBABA CLOUD × BANO QABIL AI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29FAE-9F33-42AE-9FFC-291989EB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CIRO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67BBD-D711-4323-B989-00C213BE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600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Every verified minute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matters.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F69AD-28F0-4BA1-929D-04565314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3E3FA"/>
                </a:solidFill>
              </a:defRPr>
            </a:pPr>
            <a:r>
              <a:rPr sz="1575" b="0">
                <a:solidFill>
                  <a:srgbClr val="D3E3FA"/>
                </a:solidFill>
              </a:rPr>
              <a:t>We are seeking partners to validate a controlled pilot and connect CIRO with real response workflows.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798B1-D01C-469C-9532-CA90EC03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3D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ED152-8639-4583-8CEA-4BC3D581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Alibaba Cloud technical mentorship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09FF7-7DDC-42E2-A106-BC6DEA85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253D9-F4A9-4C49-8730-CB666D66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Emergency-service domain mentors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C7963-0117-4E3D-BF44-3275EAD9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DAFDC-9EC2-4074-A1FD-6C39A9A8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Controlled pilot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977C0-F7AB-404B-86C8-05C2CBF5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32E96-988D-4FF5-B7C2-3CDB08FF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Data and mapping partnerships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65A467-D1CD-4B33-A07D-FF551360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504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2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F1FA9-37E3-4634-BC34-1CA47010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D8FF"/>
                </a:solidFill>
              </a:defRPr>
            </a:pPr>
            <a:r>
              <a:rPr sz="1200" b="1">
                <a:solidFill>
                  <a:srgbClr val="BFD8FF"/>
                </a:solidFill>
              </a:rPr>
              <a:t>Verified intelligence • Faster response • Human-led decisions</a:t>
            </a:r>
          </a:p>
        </p:txBody>
      </p:sp>
    </p:spTree>
    <p:extLst>
      <p:ext uri="{BB962C8B-B14F-4D97-AF65-F5344CB8AC3E}">
        <p14:creationId xmlns:p14="http://schemas.microsoft.com/office/powerpoint/2010/main" val="1947106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2026-09-03T04:30:49.2650000Z</dcterms:created>
  <dcterms:modified xsi:type="dcterms:W3CDTF">2026-09-03T04:30:49.2650000Z</dcterms:modified>
</coreProperties>
</file>